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2CAC1E2-AE90-CAB1-8EBB-C97976192580}">
          <p14:sldIdLst>
            <p14:sldId id="256"/>
            <p14:sldId id="257"/>
            <p14:sldId id="258"/>
          </p14:sldIdLst>
        </p14:section>
        <p14:section name="Background" id="{744DA15D-85B0-9300-AD31-A2451C165832}">
          <p14:sldIdLst>
            <p14:sldId id="259"/>
          </p14:sldIdLst>
        </p14:section>
        <p14:section name="Literature" id="{A9F405DF-CD65-F29F-68AD-5B57013119C7}">
          <p14:sldIdLst>
            <p14:sldId id="262"/>
          </p14:sldIdLst>
        </p14:section>
        <p14:section name="Methodology" id="{DC57D5D0-ACA1-3DD0-A8B3-67625C803E2C}">
          <p14:sldIdLst>
            <p14:sldId id="263"/>
            <p14:sldId id="264"/>
            <p14:sldId id="265"/>
            <p14:sldId id="266"/>
          </p14:sldIdLst>
        </p14:section>
        <p14:section name="Demo" id="{0E3879A5-59C4-CF29-8DC2-E4E3E1A236CF}">
          <p14:sldIdLst>
            <p14:sldId id="267"/>
            <p14:sldId id="268"/>
          </p14:sldIdLst>
        </p14:section>
        <p14:section name="Closing" id="{BFC960B3-E29B-F492-CF17-D8FB9C1EC68C}">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2A3D"/>
                </a:solidFill>
                <a:latin typeface="+mn-lt"/>
              </a:defRPr>
            </a:pPr>
            <a:r>
              <a:rPr lang="en-US" sz="1400" b="0" i="0" u="none" strike="noStrike">
                <a:solidFill>
                  <a:srgbClr val="0B2A3D"/>
                </a:solidFill>
                <a:latin typeface="+mn-lt"/>
              </a:rPr>
              <a:t>Share of 160,637 records (%)</a:t>
            </a:r>
          </a:p>
        </c:rich>
      </c:tx>
      <c:overlay val="0"/>
    </c:title>
    <c:autoTitleDeleted val="0"/>
    <c:plotArea>
      <c:layout/>
      <c:doughnutChart>
        <c:varyColors val="1"/>
        <c:ser>
          <c:idx val="0"/>
          <c:order val="0"/>
          <c:tx>
            <c:strRef>
              <c:f>Sheet1!$B$1</c:f>
              <c:strCache>
                <c:ptCount val="1"/>
                <c:pt idx="0">
                  <c:v>Status share</c:v>
                </c:pt>
              </c:strCache>
            </c:strRef>
          </c:tx>
          <c:spPr>
            <a:solidFill>
              <a:schemeClr val="accent1"/>
            </a:solidFill>
            <a:ln w="9525" cap="flat">
              <a:solidFill>
                <a:srgbClr val="F9F9F9"/>
              </a:solidFill>
              <a:prstDash val="solid"/>
              <a:round/>
            </a:ln>
            <a:effectLst/>
          </c:spPr>
          <c:dPt>
            <c:idx val="0"/>
            <c:bubble3D val="0"/>
            <c:spPr>
              <a:solidFill>
                <a:srgbClr val="3DDC97"/>
              </a:solidFill>
              <a:effectLst/>
            </c:spPr>
            <c:extLst>
              <c:ext xmlns:c16="http://schemas.microsoft.com/office/drawing/2014/chart" uri="{C3380CC4-5D6E-409C-BE32-E72D297353CC}">
                <c16:uniqueId val="{00000001-774A-46A6-8F8B-DB8D070CB126}"/>
              </c:ext>
            </c:extLst>
          </c:dPt>
          <c:dPt>
            <c:idx val="1"/>
            <c:bubble3D val="0"/>
            <c:spPr>
              <a:solidFill>
                <a:srgbClr val="FF7B7B"/>
              </a:solidFill>
              <a:effectLst/>
            </c:spPr>
            <c:extLst>
              <c:ext xmlns:c16="http://schemas.microsoft.com/office/drawing/2014/chart" uri="{C3380CC4-5D6E-409C-BE32-E72D297353CC}">
                <c16:uniqueId val="{00000003-774A-46A6-8F8B-DB8D070CB126}"/>
              </c:ext>
            </c:extLst>
          </c:dPt>
          <c:dPt>
            <c:idx val="2"/>
            <c:bubble3D val="0"/>
            <c:spPr>
              <a:solidFill>
                <a:srgbClr val="FFC857"/>
              </a:solidFill>
              <a:effectLst/>
            </c:spPr>
            <c:extLst>
              <c:ext xmlns:c16="http://schemas.microsoft.com/office/drawing/2014/chart" uri="{C3380CC4-5D6E-409C-BE32-E72D297353CC}">
                <c16:uniqueId val="{00000005-774A-46A6-8F8B-DB8D070CB126}"/>
              </c:ext>
            </c:extLst>
          </c:dPt>
          <c:dLbls>
            <c:dLbl>
              <c:idx val="0"/>
              <c:numFmt formatCode="0.0&quot;%&quot;" sourceLinked="0"/>
              <c:spPr/>
              <c:txPr>
                <a:bodyPr/>
                <a:lstStyle/>
                <a:p>
                  <a:pPr>
                    <a:defRPr sz="1200" b="0" i="0" u="none" strike="noStrike">
                      <a:solidFill>
                        <a:srgbClr val="0B2A3D"/>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4A-46A6-8F8B-DB8D070CB126}"/>
                </c:ext>
              </c:extLst>
            </c:dLbl>
            <c:dLbl>
              <c:idx val="1"/>
              <c:numFmt formatCode="0.0&quot;%&quot;" sourceLinked="0"/>
              <c:spPr/>
              <c:txPr>
                <a:bodyPr/>
                <a:lstStyle/>
                <a:p>
                  <a:pPr>
                    <a:defRPr sz="1200" b="0" i="0" u="none" strike="noStrike">
                      <a:solidFill>
                        <a:srgbClr val="0B2A3D"/>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4A-46A6-8F8B-DB8D070CB126}"/>
                </c:ext>
              </c:extLst>
            </c:dLbl>
            <c:dLbl>
              <c:idx val="2"/>
              <c:numFmt formatCode="0.0&quot;%&quot;" sourceLinked="0"/>
              <c:spPr/>
              <c:txPr>
                <a:bodyPr/>
                <a:lstStyle/>
                <a:p>
                  <a:pPr>
                    <a:defRPr sz="1200" b="0" i="0" u="none" strike="noStrike">
                      <a:solidFill>
                        <a:srgbClr val="0B2A3D"/>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74A-46A6-8F8B-DB8D070CB126}"/>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Status 0 · Normal</c:v>
                </c:pt>
                <c:pt idx="1">
                  <c:v>Status 5 · Other / downtime</c:v>
                </c:pt>
                <c:pt idx="2">
                  <c:v>Status 3 · Service</c:v>
                </c:pt>
              </c:strCache>
            </c:strRef>
          </c:cat>
          <c:val>
            <c:numRef>
              <c:f>Sheet1!$B$2:$B$4</c:f>
              <c:numCache>
                <c:formatCode>General</c:formatCode>
                <c:ptCount val="3"/>
                <c:pt idx="0">
                  <c:v>78.8</c:v>
                </c:pt>
                <c:pt idx="1">
                  <c:v>19.100000000000001</c:v>
                </c:pt>
                <c:pt idx="2">
                  <c:v>2.1</c:v>
                </c:pt>
              </c:numCache>
            </c:numRef>
          </c:val>
          <c:extLst>
            <c:ext xmlns:c16="http://schemas.microsoft.com/office/drawing/2014/chart" uri="{C3380CC4-5D6E-409C-BE32-E72D297353CC}">
              <c16:uniqueId val="{00000006-774A-46A6-8F8B-DB8D070CB126}"/>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200">
              <a:solidFill>
                <a:srgbClr val="0B2A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2A3D"/>
                </a:solidFill>
                <a:latin typeface="+mn-lt"/>
              </a:defRPr>
            </a:pPr>
            <a:r>
              <a:rPr lang="en-US" sz="1400" b="0" i="0" u="none" strike="noStrike">
                <a:solidFill>
                  <a:srgbClr val="0B2A3D"/>
                </a:solidFill>
                <a:latin typeface="+mn-lt"/>
              </a:rPr>
              <a:t>Hold-out results (6,505 records)</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6C8CA0"/>
            </a:solidFill>
            <a:effectLst/>
          </c:spPr>
          <c:invertIfNegative val="0"/>
          <c:dLbls>
            <c:numFmt formatCode="0" sourceLinked="0"/>
            <c:spPr>
              <a:noFill/>
              <a:ln>
                <a:noFill/>
              </a:ln>
              <a:effectLst/>
            </c:spPr>
            <c:txPr>
              <a:bodyPr/>
              <a:lstStyle/>
              <a:p>
                <a:pPr>
                  <a:defRPr sz="1000" b="0" i="0" u="none" strike="noStrike">
                    <a:solidFill>
                      <a:srgbClr val="0B2A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Decision Tree</c:v>
                </c:pt>
                <c:pt idx="2">
                  <c:v>Random Forest</c:v>
                </c:pt>
                <c:pt idx="3">
                  <c:v>Gradient Boosting</c:v>
                </c:pt>
              </c:strCache>
            </c:strRef>
          </c:cat>
          <c:val>
            <c:numRef>
              <c:f>Sheet1!$B$2:$B$5</c:f>
              <c:numCache>
                <c:formatCode>General</c:formatCode>
                <c:ptCount val="4"/>
                <c:pt idx="0">
                  <c:v>86.2</c:v>
                </c:pt>
                <c:pt idx="1">
                  <c:v>96</c:v>
                </c:pt>
                <c:pt idx="2">
                  <c:v>96.3</c:v>
                </c:pt>
                <c:pt idx="3">
                  <c:v>95.9</c:v>
                </c:pt>
              </c:numCache>
            </c:numRef>
          </c:val>
          <c:extLst>
            <c:ext xmlns:c16="http://schemas.microsoft.com/office/drawing/2014/chart" uri="{C3380CC4-5D6E-409C-BE32-E72D297353CC}">
              <c16:uniqueId val="{00000000-1178-4549-B1BF-847741D1F931}"/>
            </c:ext>
          </c:extLst>
        </c:ser>
        <c:ser>
          <c:idx val="1"/>
          <c:order val="1"/>
          <c:tx>
            <c:strRef>
              <c:f>Sheet1!$C$1</c:f>
              <c:strCache>
                <c:ptCount val="1"/>
                <c:pt idx="0">
                  <c:v>Macro-F1 (%)</c:v>
                </c:pt>
              </c:strCache>
            </c:strRef>
          </c:tx>
          <c:spPr>
            <a:solidFill>
              <a:srgbClr val="0E7C86"/>
            </a:solidFill>
            <a:effectLst/>
          </c:spPr>
          <c:invertIfNegative val="0"/>
          <c:dLbls>
            <c:numFmt formatCode="0" sourceLinked="0"/>
            <c:spPr>
              <a:noFill/>
              <a:ln>
                <a:noFill/>
              </a:ln>
              <a:effectLst/>
            </c:spPr>
            <c:txPr>
              <a:bodyPr/>
              <a:lstStyle/>
              <a:p>
                <a:pPr>
                  <a:defRPr sz="1000" b="0" i="0" u="none" strike="noStrike">
                    <a:solidFill>
                      <a:srgbClr val="0B2A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Decision Tree</c:v>
                </c:pt>
                <c:pt idx="2">
                  <c:v>Random Forest</c:v>
                </c:pt>
                <c:pt idx="3">
                  <c:v>Gradient Boosting</c:v>
                </c:pt>
              </c:strCache>
            </c:strRef>
          </c:cat>
          <c:val>
            <c:numRef>
              <c:f>Sheet1!$C$2:$C$5</c:f>
              <c:numCache>
                <c:formatCode>General</c:formatCode>
                <c:ptCount val="4"/>
                <c:pt idx="0">
                  <c:v>65.400000000000006</c:v>
                </c:pt>
                <c:pt idx="1">
                  <c:v>64</c:v>
                </c:pt>
                <c:pt idx="2">
                  <c:v>63.5</c:v>
                </c:pt>
                <c:pt idx="3">
                  <c:v>62.9</c:v>
                </c:pt>
              </c:numCache>
            </c:numRef>
          </c:val>
          <c:extLst>
            <c:ext xmlns:c16="http://schemas.microsoft.com/office/drawing/2014/chart" uri="{C3380CC4-5D6E-409C-BE32-E72D297353CC}">
              <c16:uniqueId val="{00000001-1178-4549-B1BF-847741D1F931}"/>
            </c:ext>
          </c:extLst>
        </c:ser>
        <c:ser>
          <c:idx val="2"/>
          <c:order val="2"/>
          <c:tx>
            <c:strRef>
              <c:f>Sheet1!$D$1</c:f>
              <c:strCache>
                <c:ptCount val="1"/>
                <c:pt idx="0">
                  <c:v>Status 3 found (%)</c:v>
                </c:pt>
              </c:strCache>
            </c:strRef>
          </c:tx>
          <c:spPr>
            <a:solidFill>
              <a:srgbClr val="FF7B7B"/>
            </a:solidFill>
            <a:effectLst/>
          </c:spPr>
          <c:invertIfNegative val="0"/>
          <c:dLbls>
            <c:numFmt formatCode="0" sourceLinked="0"/>
            <c:spPr>
              <a:noFill/>
              <a:ln>
                <a:noFill/>
              </a:ln>
              <a:effectLst/>
            </c:spPr>
            <c:txPr>
              <a:bodyPr/>
              <a:lstStyle/>
              <a:p>
                <a:pPr>
                  <a:defRPr sz="1000" b="0" i="0" u="none" strike="noStrike">
                    <a:solidFill>
                      <a:srgbClr val="0B2A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Decision Tree</c:v>
                </c:pt>
                <c:pt idx="2">
                  <c:v>Random Forest</c:v>
                </c:pt>
                <c:pt idx="3">
                  <c:v>Gradient Boosting</c:v>
                </c:pt>
              </c:strCache>
            </c:strRef>
          </c:cat>
          <c:val>
            <c:numRef>
              <c:f>Sheet1!$D$2:$D$5</c:f>
              <c:numCache>
                <c:formatCode>General</c:formatCode>
                <c:ptCount val="4"/>
                <c:pt idx="0">
                  <c:v>60.4</c:v>
                </c:pt>
                <c:pt idx="1">
                  <c:v>1.4</c:v>
                </c:pt>
                <c:pt idx="2">
                  <c:v>0</c:v>
                </c:pt>
                <c:pt idx="3">
                  <c:v>0</c:v>
                </c:pt>
              </c:numCache>
            </c:numRef>
          </c:val>
          <c:extLst>
            <c:ext xmlns:c16="http://schemas.microsoft.com/office/drawing/2014/chart" uri="{C3380CC4-5D6E-409C-BE32-E72D297353CC}">
              <c16:uniqueId val="{00000002-1178-4549-B1BF-847741D1F93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B2A3D"/>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0B2A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6442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This is WindWatch AI, our capstone project. It reads the sensor data of a wind turbine and predicts what state the turbine is in, then offers that as a web application hosted on AWS. I am Shrushti Malkar, and this project was guided by my mentor Rithik Raj. In the next minutes I will explain the problem, what has been done before, what we did, and I will show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a wind turbine records dozens of sensor values every ten minutes. This is called SCADA data. In our file there are 160,637 records from two turbines.
Problem: operators cannot read every sensor all day, so we want the computer to tell the turbine's state. Also the Excel file was dirty: a header row was repeated in the middle, so every number column was read as text. And the classes are very unbalanced; only about 2 percent of records are the 'service' state.
Motivation: predict automatically, warn early, and make it usable by anyone through a web app.
If asked: SCADA = Supervisory Control and Data Acquisition, the system that logs turbine signals.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aim is one sentence: build and deploy an end-to-end ML system that predicts turbine status and make it usable through a web app on AWS.
To reach it we set six objectives: clean the data, explore it with eight charts, compare four models, choose the best one with a suitable metric, build a web app with three ways to enter data, and prepare deployment on AWS. The full report lists eight objectives; these six are the grouped version.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SCADA records are taken every ten minutes with four statistics per signal: average, minimum, maximum and standard deviation, giving 81 sensor columns.
The target is the status code with three values. The doughnut shows the imbalance: 78.8 percent normal, 19.1 percent other downtime, only 2.1 percent service.
Because one class dominates, a model that always says 'normal' would already be about 79 percent accurate and totally useless. That is why we use class weights and macro-F1.
If asked what the codes mean: we used the common SCADA convention, but the file has no data dictionary, so this is an assumption that should be confirmed with the data owner. The model itself does not depend on the names.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research gap. Previous work is mostly about component faults and anomaly detection, usually judged by accuracy, and mostly stays in papers.
What we add: we predict the general operating status; we documented and repaired a real messy data file; we choose the model by macro-F1 and show per-class results, including where the model fails; we built a web application with three input modes and explanations for each prediction; and the project is ready for deployment on AWS.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part one. Seven steps: load, clean, transform, explore, model, evaluate, deploy.
Cleaning was the first surprise. Two turbine files had been joined and the second header row stayed inside the data, so pandas read every numeric column as text. We removed that row, the two empty rows and two constant columns, converted types, and checked for duplicates; none were found. No valid record was lost: 160,637 remain.
Transformation: we added hour and month, dropped 21 sensors that were more than 98 percent correlated with another, leaving 61 features, and used the split that the dataset provides: 154,132 training rows and 6,505 hold-out rows. Imputation and scaling sit inside the model pipeline so no test information leaks into 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Exploration. The chart is the classic power curve: power rises with wind speed in an S shape. Status 5 points sit at the bottom left, where the wind is too weak to produce power. Half of all readings below 4 metres per second are status 5, compared with only 2.9 percent at 8 or more.
So we expected status 5 to be easy. Status 3 occurs at ordinary wind speeds and overlaps normal operation in most sensors, so we expected it to be hard. The results confirmed both.
We made eight charts in total: class distribution, status over time, power curve, box-plots, density plots, status by hour, correlation ranking and a heat-map. They are in the report, chapter 10.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four models with the same pipeline, same seed and class weighting: Logistic Regression, Decision Tree, Random Forest and Histogram Gradient Boosting, tested on 6,505 hold-out records.
Look at the grey bars: the three tree models have about 96 percent accuracy, Logistic Regression only 86. But the red bars show status 3: Random Forest and Gradient Boosting found none of the 144, the Decision Tree 2. Logistic Regression found 87, which is 60 percent. It also has the best macro-F1 of 0.654 and the best macro-recall of 0.82, and its train and test scores are almost equal, so it does not overfit, while Random Forest scores 0.999 on training and 0.635 on test.
Honest limitation: Logistic Regression raises many false alarms for status 3 (precision 0.14) and misclassifies about 15 percent of normal records. The margin in macro-F1 is small. The choice depends on cost: missing a non-normal state is usually worse than a false alarm.
If asked why not accuracy: 79 percent of rows are status 0, so accuracy rewards ignoring the rare classes.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The trained pipeline, with its imputer and scaler, is saved in one joblib file together with the feature list, typical values, metrics and sample rows. A Flask application loads it once and offers endpoints: one for a single row, one for a file upload and a health check. Gunicorn runs Flask in production.
We prepared three ways to host it on AWS: Elastic Beanstalk, the easiest, where you just upload the folder; EC2 with nginx, which gives full control; and Docker with App Runner, which gives an HTTPS address automatically. We also raised nginx's default 1 MB upload limit to 50 MB because the app accepts datasets.
If asked whether it is already live: the files and the step-by-step guide are ready; the demo today runs from the same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cue. The application has three input modes.
One: a single reading. The ten most influential sensors are shown as editable fields with typical values already filled in, and an expandable list for all 61 features. A drop-down loads real rows from the hold-out set.
Two: paste a complete row as JSON or as CSV text. Anything missing is filled automatically.
Three: upload a CSV or Excel dataset. The app cleans it with the same rules as the notebook. If your file contains the real status column, it also reports accuracy.
Demo suggestion: load a 'Service' sample, press Predict, then upload sample_upload.csv.</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On the left, a single prediction: this is a real hold-out record whose true status is 3, and the model predicts service with 73 percent confidence. You see the probability of each class and the six sensors that pushed the decision; cyan bars push towards the predicted class, red bars away from it.
On the right, a dataset upload: it shows the share of each predicted status, the accuracy against the real status column, and a table with a downloadable CSV. The demo file is deliberately balanced, so its 86.7 percent accuracy and 0.833 macro-F1 are higher than the real hold-out macro-F1 of 0.654; do not quote them as the expected performance.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we built the full path from a messy spreadsheet to a deployed web service. The main lesson is technical: a 96 percent accurate model can still completely miss the rare state, so metrics must match the problem. Logistic Regression was chosen because it detects the rare state, generalises and is transparent, with the limitations stated openly.
Future scope: oversampling and threshold tuning for status 3, time-window features, SHAP explanations, public benchmark data and early fault detection, plus authentication and monitoring for production.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A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389120" cy="8686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marL="0" indent="0">
              <a:buNone/>
            </a:pPr>
            <a:r>
              <a:rPr lang="en-US" sz="1000" dirty="0">
                <a:solidFill>
                  <a:schemeClr val="accent6"/>
                </a:solidFill>
              </a:rPr>
              <a:t>WindWatch AI   ·   Developed by Shrushti Malkar   ·   Mentor: Rithik Raj</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2A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marL="0" indent="0">
              <a:buNone/>
            </a:pPr>
            <a:r>
              <a:rPr lang="en-US" sz="1000" dirty="0">
                <a:solidFill>
                  <a:schemeClr val="accent6"/>
                </a:solidFill>
              </a:rPr>
              <a:t>WindWatch AI   ·   Developed by Shrushti Malkar   ·   Mentor: Rithik Raj</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ill"/>
          <p:cNvSpPr/>
          <p:nvPr/>
        </p:nvSpPr>
        <p:spPr>
          <a:xfrm>
            <a:off x="548640" y="640080"/>
            <a:ext cx="3566160" cy="347472"/>
          </a:xfrm>
          <a:prstGeom prst="roundRect">
            <a:avLst>
              <a:gd name="adj" fmla="val 50000"/>
            </a:avLst>
          </a:prstGeom>
          <a:solidFill>
            <a:schemeClr val="tx2"/>
          </a:solidFill>
          <a:ln w="9525">
            <a:solidFill>
              <a:schemeClr val="accent2"/>
            </a:solidFill>
            <a:prstDash val="solid"/>
          </a:ln>
        </p:spPr>
        <p:txBody>
          <a:bodyPr/>
          <a:lstStyle/>
          <a:p>
            <a:endParaRPr lang="en-US"/>
          </a:p>
        </p:txBody>
      </p:sp>
      <p:sp>
        <p:nvSpPr>
          <p:cNvPr id="3" name="Text 1"/>
          <p:cNvSpPr txBox="1"/>
          <p:nvPr/>
        </p:nvSpPr>
        <p:spPr>
          <a:xfrm>
            <a:off x="548640" y="640080"/>
            <a:ext cx="3566160" cy="347472"/>
          </a:xfrm>
          <a:prstGeom prst="rect">
            <a:avLst/>
          </a:prstGeom>
          <a:noFill/>
          <a:ln/>
        </p:spPr>
        <p:txBody>
          <a:bodyPr wrap="square" lIns="0" tIns="0" rIns="0" bIns="0" rtlCol="0" anchor="ctr"/>
          <a:lstStyle/>
          <a:p>
            <a:pPr marL="0" indent="0" algn="ctr">
              <a:buNone/>
            </a:pPr>
            <a:r>
              <a:rPr lang="en-US" sz="1200" dirty="0">
                <a:solidFill>
                  <a:schemeClr val="accent2"/>
                </a:solidFill>
              </a:rPr>
              <a:t>Capstone Project  ·  Machine Learning  ·  AWS</a:t>
            </a:r>
            <a:endParaRPr lang="en-US" sz="1200" dirty="0"/>
          </a:p>
        </p:txBody>
      </p:sp>
      <p:sp>
        <p:nvSpPr>
          <p:cNvPr id="4" name="Text 0"/>
          <p:cNvSpPr>
            <a:spLocks noGrp="1"/>
          </p:cNvSpPr>
          <p:nvPr>
            <p:ph type="title" idx="100" hasCustomPrompt="1"/>
          </p:nvPr>
        </p:nvSpPr>
        <p:spPr>
          <a:xfrm>
            <a:off x="548640" y="1234440"/>
            <a:ext cx="4389120" cy="868680"/>
          </a:xfrm>
          <a:prstGeom prst="rect">
            <a:avLst/>
          </a:prstGeom>
          <a:noFill/>
          <a:ln/>
        </p:spPr>
        <p:txBody>
          <a:bodyPr wrap="square" lIns="0" tIns="0" rIns="0" bIns="0" rtlCol="0" anchor="ctr"/>
          <a:lstStyle/>
          <a:p>
            <a:pPr marL="0" indent="0" algn="l">
              <a:buNone/>
            </a:pPr>
            <a:r>
              <a:rPr lang="en-US" sz="4800" b="1" dirty="0">
                <a:solidFill>
                  <a:schemeClr val="bg1"/>
                </a:solidFill>
              </a:rPr>
              <a:t>WindWatch AI</a:t>
            </a:r>
            <a:endParaRPr lang="en-US" sz="4800" dirty="0"/>
          </a:p>
        </p:txBody>
      </p:sp>
      <p:sp>
        <p:nvSpPr>
          <p:cNvPr id="5" name="Text 3"/>
          <p:cNvSpPr txBox="1"/>
          <p:nvPr/>
        </p:nvSpPr>
        <p:spPr>
          <a:xfrm>
            <a:off x="548640" y="2194560"/>
            <a:ext cx="4206240" cy="914400"/>
          </a:xfrm>
          <a:prstGeom prst="rect">
            <a:avLst/>
          </a:prstGeom>
          <a:noFill/>
          <a:ln/>
        </p:spPr>
        <p:txBody>
          <a:bodyPr wrap="square" lIns="0" tIns="0" rIns="0" bIns="0" rtlCol="0" anchor="t"/>
          <a:lstStyle/>
          <a:p>
            <a:pPr marL="0" indent="0">
              <a:buNone/>
            </a:pPr>
            <a:r>
              <a:rPr lang="en-US" sz="2000" dirty="0">
                <a:solidFill>
                  <a:schemeClr val="accent2"/>
                </a:solidFill>
              </a:rPr>
              <a:t>Wind Turbine Operating-Status Prediction using Machine Learning</a:t>
            </a:r>
            <a:endParaRPr lang="en-US" sz="2000" dirty="0"/>
          </a:p>
        </p:txBody>
      </p:sp>
      <p:sp>
        <p:nvSpPr>
          <p:cNvPr id="6" name="Text 4"/>
          <p:cNvSpPr txBox="1"/>
          <p:nvPr/>
        </p:nvSpPr>
        <p:spPr>
          <a:xfrm>
            <a:off x="548640" y="3520440"/>
            <a:ext cx="1828800" cy="228600"/>
          </a:xfrm>
          <a:prstGeom prst="rect">
            <a:avLst/>
          </a:prstGeom>
          <a:noFill/>
          <a:ln/>
        </p:spPr>
        <p:txBody>
          <a:bodyPr wrap="square" lIns="0" tIns="0" rIns="0" bIns="0" rtlCol="0" anchor="t"/>
          <a:lstStyle/>
          <a:p>
            <a:pPr marL="0" indent="0">
              <a:buNone/>
            </a:pPr>
            <a:r>
              <a:rPr lang="en-US" sz="1100" b="1" dirty="0">
                <a:solidFill>
                  <a:schemeClr val="accent6"/>
                </a:solidFill>
              </a:rPr>
              <a:t>MENTOR</a:t>
            </a:r>
            <a:endParaRPr lang="en-US" sz="1100" dirty="0"/>
          </a:p>
        </p:txBody>
      </p:sp>
      <p:sp>
        <p:nvSpPr>
          <p:cNvPr id="7" name="Text 5"/>
          <p:cNvSpPr txBox="1"/>
          <p:nvPr/>
        </p:nvSpPr>
        <p:spPr>
          <a:xfrm>
            <a:off x="548640" y="3749040"/>
            <a:ext cx="2011680" cy="365760"/>
          </a:xfrm>
          <a:prstGeom prst="rect">
            <a:avLst/>
          </a:prstGeom>
          <a:noFill/>
          <a:ln/>
        </p:spPr>
        <p:txBody>
          <a:bodyPr wrap="square" lIns="0" tIns="0" rIns="0" bIns="0" rtlCol="0" anchor="t"/>
          <a:lstStyle/>
          <a:p>
            <a:pPr marL="0" indent="0">
              <a:buNone/>
            </a:pPr>
            <a:r>
              <a:rPr lang="en-US" sz="2000" b="1" dirty="0">
                <a:solidFill>
                  <a:schemeClr val="bg1"/>
                </a:solidFill>
              </a:rPr>
              <a:t>Rithik Raj</a:t>
            </a:r>
            <a:endParaRPr lang="en-US" sz="2000" dirty="0"/>
          </a:p>
        </p:txBody>
      </p:sp>
      <p:sp>
        <p:nvSpPr>
          <p:cNvPr id="8" name="Text 6"/>
          <p:cNvSpPr txBox="1"/>
          <p:nvPr/>
        </p:nvSpPr>
        <p:spPr>
          <a:xfrm>
            <a:off x="2651760" y="3520440"/>
            <a:ext cx="2103120" cy="228600"/>
          </a:xfrm>
          <a:prstGeom prst="rect">
            <a:avLst/>
          </a:prstGeom>
          <a:noFill/>
          <a:ln/>
        </p:spPr>
        <p:txBody>
          <a:bodyPr wrap="square" lIns="0" tIns="0" rIns="0" bIns="0" rtlCol="0" anchor="t"/>
          <a:lstStyle/>
          <a:p>
            <a:pPr marL="0" indent="0">
              <a:buNone/>
            </a:pPr>
            <a:r>
              <a:rPr lang="en-US" sz="1100" b="1" dirty="0">
                <a:solidFill>
                  <a:schemeClr val="accent6"/>
                </a:solidFill>
              </a:rPr>
              <a:t>DEVELOPED BY</a:t>
            </a:r>
            <a:endParaRPr lang="en-US" sz="1100" dirty="0"/>
          </a:p>
        </p:txBody>
      </p:sp>
      <p:sp>
        <p:nvSpPr>
          <p:cNvPr id="9" name="Text 7"/>
          <p:cNvSpPr txBox="1"/>
          <p:nvPr/>
        </p:nvSpPr>
        <p:spPr>
          <a:xfrm>
            <a:off x="2651760" y="3749040"/>
            <a:ext cx="2377440" cy="365760"/>
          </a:xfrm>
          <a:prstGeom prst="rect">
            <a:avLst/>
          </a:prstGeom>
          <a:noFill/>
          <a:ln/>
        </p:spPr>
        <p:txBody>
          <a:bodyPr wrap="square" lIns="0" tIns="0" rIns="0" bIns="0" rtlCol="0" anchor="t"/>
          <a:lstStyle/>
          <a:p>
            <a:pPr marL="0" indent="0">
              <a:buNone/>
            </a:pPr>
            <a:r>
              <a:rPr lang="en-US" sz="2000" b="1" dirty="0">
                <a:solidFill>
                  <a:schemeClr val="bg1"/>
                </a:solidFill>
              </a:rPr>
              <a:t>Shrushti Malkar</a:t>
            </a:r>
            <a:endParaRPr lang="en-US" sz="2000" dirty="0"/>
          </a:p>
        </p:txBody>
      </p:sp>
      <p:pic>
        <p:nvPicPr>
          <p:cNvPr id="10" name="turbines" descr="Illustration of three wind turbines on a hill"/>
          <p:cNvPicPr>
            <a:picLocks noChangeAspect="1"/>
          </p:cNvPicPr>
          <p:nvPr/>
        </p:nvPicPr>
        <p:blipFill>
          <a:blip r:embed="rId3"/>
          <a:stretch>
            <a:fillRect/>
          </a:stretch>
        </p:blipFill>
        <p:spPr>
          <a:xfrm>
            <a:off x="4800600" y="1097280"/>
            <a:ext cx="4114800" cy="2880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Introduction, problem and motivation</a:t>
            </a:r>
            <a:endParaRPr lang="en-US" sz="3000" dirty="0"/>
          </a:p>
        </p:txBody>
      </p:sp>
      <p:sp>
        <p:nvSpPr>
          <p:cNvPr id="3" name="card Introduction"/>
          <p:cNvSpPr/>
          <p:nvPr/>
        </p:nvSpPr>
        <p:spPr>
          <a:xfrm>
            <a:off x="457200" y="1143000"/>
            <a:ext cx="2651760" cy="3429000"/>
          </a:xfrm>
          <a:prstGeom prst="roundRect">
            <a:avLst>
              <a:gd name="adj" fmla="val 4138"/>
            </a:avLst>
          </a:prstGeom>
          <a:solidFill>
            <a:schemeClr val="bg2"/>
          </a:solidFill>
          <a:ln w="12700">
            <a:solidFill>
              <a:schemeClr val="bg2"/>
            </a:solidFill>
            <a:prstDash val="solid"/>
          </a:ln>
          <a:effectLst>
            <a:outerShdw blurRad="101600" dist="25400" dir="5400000" algn="bl" rotWithShape="0">
              <a:srgbClr val="000000">
                <a:alpha val="14000"/>
              </a:srgbClr>
            </a:outerShdw>
          </a:effectLst>
        </p:spPr>
        <p:txBody>
          <a:bodyPr/>
          <a:lstStyle/>
          <a:p>
            <a:endParaRPr lang="en-US"/>
          </a:p>
        </p:txBody>
      </p:sp>
      <p:sp>
        <p:nvSpPr>
          <p:cNvPr id="4" name="icon circle FaWind"/>
          <p:cNvSpPr/>
          <p:nvPr/>
        </p:nvSpPr>
        <p:spPr>
          <a:xfrm>
            <a:off x="685800" y="132588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5" name="icon FaWind" descr="FaWind"/>
          <p:cNvPicPr>
            <a:picLocks noChangeAspect="1"/>
          </p:cNvPicPr>
          <p:nvPr/>
        </p:nvPicPr>
        <p:blipFill>
          <a:blip r:embed="rId3"/>
          <a:stretch>
            <a:fillRect/>
          </a:stretch>
        </p:blipFill>
        <p:spPr>
          <a:xfrm>
            <a:off x="806501" y="1446581"/>
            <a:ext cx="307238" cy="307238"/>
          </a:xfrm>
          <a:prstGeom prst="rect">
            <a:avLst/>
          </a:prstGeom>
        </p:spPr>
      </p:pic>
      <p:sp>
        <p:nvSpPr>
          <p:cNvPr id="6" name="Text 3"/>
          <p:cNvSpPr txBox="1"/>
          <p:nvPr/>
        </p:nvSpPr>
        <p:spPr>
          <a:xfrm>
            <a:off x="685800" y="1965960"/>
            <a:ext cx="2194560" cy="365760"/>
          </a:xfrm>
          <a:prstGeom prst="rect">
            <a:avLst/>
          </a:prstGeom>
          <a:noFill/>
          <a:ln/>
        </p:spPr>
        <p:txBody>
          <a:bodyPr wrap="square" lIns="0" tIns="0" rIns="0" bIns="0" rtlCol="0" anchor="t"/>
          <a:lstStyle/>
          <a:p>
            <a:pPr marL="0" indent="0">
              <a:buNone/>
            </a:pPr>
            <a:r>
              <a:rPr lang="en-US" sz="1800" b="1" dirty="0">
                <a:solidFill>
                  <a:schemeClr val="tx1"/>
                </a:solidFill>
              </a:rPr>
              <a:t>Introduction</a:t>
            </a:r>
            <a:endParaRPr lang="en-US" sz="1800" dirty="0"/>
          </a:p>
        </p:txBody>
      </p:sp>
      <p:sp>
        <p:nvSpPr>
          <p:cNvPr id="7" name="Text 4"/>
          <p:cNvSpPr txBox="1"/>
          <p:nvPr/>
        </p:nvSpPr>
        <p:spPr>
          <a:xfrm>
            <a:off x="685800" y="2423160"/>
            <a:ext cx="22402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Turbines log 81 sensor values every 10 minutes (SCADA)</a:t>
            </a:r>
            <a:endParaRPr lang="en-US" sz="1400" dirty="0"/>
          </a:p>
          <a:p>
            <a:pPr marL="342900" indent="-342900">
              <a:spcAft>
                <a:spcPts val="600"/>
              </a:spcAft>
              <a:buSzPct val="100000"/>
              <a:buChar char="•"/>
            </a:pPr>
            <a:r>
              <a:rPr lang="en-US" sz="1400" dirty="0">
                <a:solidFill>
                  <a:schemeClr val="tx1"/>
                </a:solidFill>
              </a:rPr>
              <a:t>Every record also has a status code</a:t>
            </a:r>
            <a:endParaRPr lang="en-US" sz="1400" dirty="0"/>
          </a:p>
          <a:p>
            <a:pPr marL="342900" indent="-342900">
              <a:spcAft>
                <a:spcPts val="600"/>
              </a:spcAft>
              <a:buSzPct val="100000"/>
              <a:buChar char="•"/>
            </a:pPr>
            <a:r>
              <a:rPr lang="en-US" sz="1400" dirty="0">
                <a:solidFill>
                  <a:schemeClr val="tx1"/>
                </a:solidFill>
              </a:rPr>
              <a:t>160,637 records from 2 turbines, 2019–2023</a:t>
            </a:r>
            <a:endParaRPr lang="en-US" sz="1400" dirty="0"/>
          </a:p>
        </p:txBody>
      </p:sp>
      <p:sp>
        <p:nvSpPr>
          <p:cNvPr id="8" name="card Problem statement"/>
          <p:cNvSpPr/>
          <p:nvPr/>
        </p:nvSpPr>
        <p:spPr>
          <a:xfrm>
            <a:off x="3291840" y="1143000"/>
            <a:ext cx="2651760" cy="3429000"/>
          </a:xfrm>
          <a:prstGeom prst="roundRect">
            <a:avLst>
              <a:gd name="adj" fmla="val 4138"/>
            </a:avLst>
          </a:prstGeom>
          <a:solidFill>
            <a:schemeClr val="bg2"/>
          </a:solidFill>
          <a:ln w="12700">
            <a:solidFill>
              <a:schemeClr val="bg2"/>
            </a:solidFill>
            <a:prstDash val="solid"/>
          </a:ln>
          <a:effectLst>
            <a:outerShdw blurRad="101600" dist="25400" dir="5400000" algn="bl" rotWithShape="0">
              <a:srgbClr val="000000">
                <a:alpha val="14000"/>
              </a:srgbClr>
            </a:outerShdw>
          </a:effectLst>
        </p:spPr>
        <p:txBody>
          <a:bodyPr/>
          <a:lstStyle/>
          <a:p>
            <a:endParaRPr lang="en-US"/>
          </a:p>
        </p:txBody>
      </p:sp>
      <p:sp>
        <p:nvSpPr>
          <p:cNvPr id="9" name="icon circle FaExclamationTriangle"/>
          <p:cNvSpPr/>
          <p:nvPr/>
        </p:nvSpPr>
        <p:spPr>
          <a:xfrm>
            <a:off x="3520440" y="1325880"/>
            <a:ext cx="548640" cy="548640"/>
          </a:xfrm>
          <a:prstGeom prst="ellipse">
            <a:avLst/>
          </a:prstGeom>
          <a:solidFill>
            <a:srgbClr val="FF7B7B"/>
          </a:solidFill>
          <a:ln w="12700">
            <a:solidFill>
              <a:srgbClr val="FF7B7B"/>
            </a:solidFill>
            <a:prstDash val="solid"/>
          </a:ln>
        </p:spPr>
        <p:txBody>
          <a:bodyPr/>
          <a:lstStyle/>
          <a:p>
            <a:endParaRPr lang="en-US"/>
          </a:p>
        </p:txBody>
      </p:sp>
      <p:pic>
        <p:nvPicPr>
          <p:cNvPr id="10" name="icon FaExclamationTriangle" descr="FaExclamationTriangle"/>
          <p:cNvPicPr>
            <a:picLocks noChangeAspect="1"/>
          </p:cNvPicPr>
          <p:nvPr/>
        </p:nvPicPr>
        <p:blipFill>
          <a:blip r:embed="rId4"/>
          <a:stretch>
            <a:fillRect/>
          </a:stretch>
        </p:blipFill>
        <p:spPr>
          <a:xfrm>
            <a:off x="3641141" y="1446581"/>
            <a:ext cx="307238" cy="307238"/>
          </a:xfrm>
          <a:prstGeom prst="rect">
            <a:avLst/>
          </a:prstGeom>
        </p:spPr>
      </p:pic>
      <p:sp>
        <p:nvSpPr>
          <p:cNvPr id="11" name="Text 7"/>
          <p:cNvSpPr txBox="1"/>
          <p:nvPr/>
        </p:nvSpPr>
        <p:spPr>
          <a:xfrm>
            <a:off x="3520440" y="1965960"/>
            <a:ext cx="2194560" cy="365760"/>
          </a:xfrm>
          <a:prstGeom prst="rect">
            <a:avLst/>
          </a:prstGeom>
          <a:noFill/>
          <a:ln/>
        </p:spPr>
        <p:txBody>
          <a:bodyPr wrap="square" lIns="0" tIns="0" rIns="0" bIns="0" rtlCol="0" anchor="t"/>
          <a:lstStyle/>
          <a:p>
            <a:pPr marL="0" indent="0">
              <a:buNone/>
            </a:pPr>
            <a:r>
              <a:rPr lang="en-US" sz="1800" b="1" dirty="0">
                <a:solidFill>
                  <a:schemeClr val="tx1"/>
                </a:solidFill>
              </a:rPr>
              <a:t>Problem statement</a:t>
            </a:r>
            <a:endParaRPr lang="en-US" sz="1800" dirty="0"/>
          </a:p>
        </p:txBody>
      </p:sp>
      <p:sp>
        <p:nvSpPr>
          <p:cNvPr id="12" name="Text 8"/>
          <p:cNvSpPr txBox="1"/>
          <p:nvPr/>
        </p:nvSpPr>
        <p:spPr>
          <a:xfrm>
            <a:off x="3520440" y="2423160"/>
            <a:ext cx="22402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Nobody can check every sensor by hand</a:t>
            </a:r>
            <a:endParaRPr lang="en-US" sz="1400" dirty="0"/>
          </a:p>
          <a:p>
            <a:pPr marL="342900" indent="-342900">
              <a:spcAft>
                <a:spcPts val="600"/>
              </a:spcAft>
              <a:buSzPct val="100000"/>
              <a:buChar char="•"/>
            </a:pPr>
            <a:r>
              <a:rPr lang="en-US" sz="1400" dirty="0">
                <a:solidFill>
                  <a:schemeClr val="tx1"/>
                </a:solidFill>
              </a:rPr>
              <a:t>The data is messy: a hidden header row turned every number into text</a:t>
            </a:r>
            <a:endParaRPr lang="en-US" sz="1400" dirty="0"/>
          </a:p>
          <a:p>
            <a:pPr marL="342900" indent="-342900">
              <a:spcAft>
                <a:spcPts val="600"/>
              </a:spcAft>
              <a:buSzPct val="100000"/>
              <a:buChar char="•"/>
            </a:pPr>
            <a:r>
              <a:rPr lang="en-US" sz="1400" dirty="0">
                <a:solidFill>
                  <a:schemeClr val="tx1"/>
                </a:solidFill>
              </a:rPr>
              <a:t>Only 2% of records are the rare “service” status</a:t>
            </a:r>
            <a:endParaRPr lang="en-US" sz="1400" dirty="0"/>
          </a:p>
        </p:txBody>
      </p:sp>
      <p:sp>
        <p:nvSpPr>
          <p:cNvPr id="13" name="card Why we built it"/>
          <p:cNvSpPr/>
          <p:nvPr/>
        </p:nvSpPr>
        <p:spPr>
          <a:xfrm>
            <a:off x="6126480" y="1143000"/>
            <a:ext cx="2651760" cy="3429000"/>
          </a:xfrm>
          <a:prstGeom prst="roundRect">
            <a:avLst>
              <a:gd name="adj" fmla="val 4138"/>
            </a:avLst>
          </a:prstGeom>
          <a:solidFill>
            <a:schemeClr val="bg2"/>
          </a:solidFill>
          <a:ln w="12700">
            <a:solidFill>
              <a:schemeClr val="bg2"/>
            </a:solidFill>
            <a:prstDash val="solid"/>
          </a:ln>
          <a:effectLst>
            <a:outerShdw blurRad="101600" dist="25400" dir="5400000" algn="bl" rotWithShape="0">
              <a:srgbClr val="000000">
                <a:alpha val="14000"/>
              </a:srgbClr>
            </a:outerShdw>
          </a:effectLst>
        </p:spPr>
        <p:txBody>
          <a:bodyPr/>
          <a:lstStyle/>
          <a:p>
            <a:endParaRPr lang="en-US"/>
          </a:p>
        </p:txBody>
      </p:sp>
      <p:sp>
        <p:nvSpPr>
          <p:cNvPr id="14" name="icon circle FaLightbulb"/>
          <p:cNvSpPr/>
          <p:nvPr/>
        </p:nvSpPr>
        <p:spPr>
          <a:xfrm>
            <a:off x="6355080" y="132588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5" name="icon FaLightbulb" descr="FaLightbulb"/>
          <p:cNvPicPr>
            <a:picLocks noChangeAspect="1"/>
          </p:cNvPicPr>
          <p:nvPr/>
        </p:nvPicPr>
        <p:blipFill>
          <a:blip r:embed="rId5"/>
          <a:stretch>
            <a:fillRect/>
          </a:stretch>
        </p:blipFill>
        <p:spPr>
          <a:xfrm>
            <a:off x="6475781" y="1446581"/>
            <a:ext cx="307238" cy="307238"/>
          </a:xfrm>
          <a:prstGeom prst="rect">
            <a:avLst/>
          </a:prstGeom>
        </p:spPr>
      </p:pic>
      <p:sp>
        <p:nvSpPr>
          <p:cNvPr id="16" name="Text 11"/>
          <p:cNvSpPr txBox="1"/>
          <p:nvPr/>
        </p:nvSpPr>
        <p:spPr>
          <a:xfrm>
            <a:off x="6355080" y="1965960"/>
            <a:ext cx="2194560" cy="365760"/>
          </a:xfrm>
          <a:prstGeom prst="rect">
            <a:avLst/>
          </a:prstGeom>
          <a:noFill/>
          <a:ln/>
        </p:spPr>
        <p:txBody>
          <a:bodyPr wrap="square" lIns="0" tIns="0" rIns="0" bIns="0" rtlCol="0" anchor="t"/>
          <a:lstStyle/>
          <a:p>
            <a:pPr marL="0" indent="0">
              <a:buNone/>
            </a:pPr>
            <a:r>
              <a:rPr lang="en-US" sz="1800" b="1" dirty="0">
                <a:solidFill>
                  <a:schemeClr val="tx1"/>
                </a:solidFill>
              </a:rPr>
              <a:t>Why we built it</a:t>
            </a:r>
            <a:endParaRPr lang="en-US" sz="1800" dirty="0"/>
          </a:p>
        </p:txBody>
      </p:sp>
      <p:sp>
        <p:nvSpPr>
          <p:cNvPr id="17" name="Text 12"/>
          <p:cNvSpPr txBox="1"/>
          <p:nvPr/>
        </p:nvSpPr>
        <p:spPr>
          <a:xfrm>
            <a:off x="6355080" y="2423160"/>
            <a:ext cx="22402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Predict the status automatically, with a confidence score</a:t>
            </a:r>
            <a:endParaRPr lang="en-US" sz="1400" dirty="0"/>
          </a:p>
          <a:p>
            <a:pPr marL="342900" indent="-342900">
              <a:spcAft>
                <a:spcPts val="600"/>
              </a:spcAft>
              <a:buSzPct val="100000"/>
              <a:buChar char="•"/>
            </a:pPr>
            <a:r>
              <a:rPr lang="en-US" sz="1400" dirty="0">
                <a:solidFill>
                  <a:schemeClr val="tx1"/>
                </a:solidFill>
              </a:rPr>
              <a:t>Flag abnormal states early to reduce downtime</a:t>
            </a:r>
            <a:endParaRPr lang="en-US" sz="1400" dirty="0"/>
          </a:p>
          <a:p>
            <a:pPr marL="342900" indent="-342900">
              <a:spcAft>
                <a:spcPts val="600"/>
              </a:spcAft>
              <a:buSzPct val="100000"/>
              <a:buChar char="•"/>
            </a:pPr>
            <a:r>
              <a:rPr lang="en-US" sz="1400" dirty="0">
                <a:solidFill>
                  <a:schemeClr val="tx1"/>
                </a:solidFill>
              </a:rPr>
              <a:t>Let anyone use the model through a web app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Aim and objectives</a:t>
            </a:r>
            <a:endParaRPr lang="en-US" sz="3000" dirty="0"/>
          </a:p>
        </p:txBody>
      </p:sp>
      <p:sp>
        <p:nvSpPr>
          <p:cNvPr id="3" name="aim card"/>
          <p:cNvSpPr/>
          <p:nvPr/>
        </p:nvSpPr>
        <p:spPr>
          <a:xfrm>
            <a:off x="457200" y="1143000"/>
            <a:ext cx="3474720" cy="3429000"/>
          </a:xfrm>
          <a:prstGeom prst="roundRect">
            <a:avLst>
              <a:gd name="adj" fmla="val 3200"/>
            </a:avLst>
          </a:prstGeom>
          <a:solidFill>
            <a:schemeClr val="tx1"/>
          </a:solidFill>
          <a:ln w="12700">
            <a:solidFill>
              <a:schemeClr val="tx1"/>
            </a:solidFill>
            <a:prstDash val="solid"/>
          </a:ln>
          <a:effectLst>
            <a:outerShdw blurRad="101600" dist="25400" dir="5400000" algn="bl" rotWithShape="0">
              <a:srgbClr val="000000">
                <a:alpha val="14000"/>
              </a:srgbClr>
            </a:outerShdw>
          </a:effectLst>
        </p:spPr>
        <p:txBody>
          <a:bodyPr/>
          <a:lstStyle/>
          <a:p>
            <a:endParaRPr lang="en-US"/>
          </a:p>
        </p:txBody>
      </p:sp>
      <p:sp>
        <p:nvSpPr>
          <p:cNvPr id="4" name="icon circle FaBullseye"/>
          <p:cNvSpPr/>
          <p:nvPr/>
        </p:nvSpPr>
        <p:spPr>
          <a:xfrm>
            <a:off x="731520" y="14173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5" name="icon FaBullseye" descr="FaBullseye"/>
          <p:cNvPicPr>
            <a:picLocks noChangeAspect="1"/>
          </p:cNvPicPr>
          <p:nvPr/>
        </p:nvPicPr>
        <p:blipFill>
          <a:blip r:embed="rId3"/>
          <a:stretch>
            <a:fillRect/>
          </a:stretch>
        </p:blipFill>
        <p:spPr>
          <a:xfrm>
            <a:off x="852221" y="1538021"/>
            <a:ext cx="307238" cy="307238"/>
          </a:xfrm>
          <a:prstGeom prst="rect">
            <a:avLst/>
          </a:prstGeom>
        </p:spPr>
      </p:pic>
      <p:sp>
        <p:nvSpPr>
          <p:cNvPr id="6" name="Text 3"/>
          <p:cNvSpPr txBox="1"/>
          <p:nvPr/>
        </p:nvSpPr>
        <p:spPr>
          <a:xfrm>
            <a:off x="731520" y="2103120"/>
            <a:ext cx="2926080" cy="274320"/>
          </a:xfrm>
          <a:prstGeom prst="rect">
            <a:avLst/>
          </a:prstGeom>
          <a:noFill/>
          <a:ln/>
        </p:spPr>
        <p:txBody>
          <a:bodyPr wrap="square" lIns="0" tIns="0" rIns="0" bIns="0" rtlCol="0" anchor="t"/>
          <a:lstStyle/>
          <a:p>
            <a:pPr marL="0" indent="0">
              <a:buNone/>
            </a:pPr>
            <a:r>
              <a:rPr lang="en-US" sz="1400" b="1" dirty="0">
                <a:solidFill>
                  <a:schemeClr val="accent2"/>
                </a:solidFill>
              </a:rPr>
              <a:t>AIM</a:t>
            </a:r>
            <a:endParaRPr lang="en-US" sz="1400" dirty="0"/>
          </a:p>
        </p:txBody>
      </p:sp>
      <p:sp>
        <p:nvSpPr>
          <p:cNvPr id="7" name="Text 4"/>
          <p:cNvSpPr txBox="1"/>
          <p:nvPr/>
        </p:nvSpPr>
        <p:spPr>
          <a:xfrm>
            <a:off x="731520" y="2423160"/>
            <a:ext cx="2971800" cy="2011680"/>
          </a:xfrm>
          <a:prstGeom prst="rect">
            <a:avLst/>
          </a:prstGeom>
          <a:noFill/>
          <a:ln/>
        </p:spPr>
        <p:txBody>
          <a:bodyPr wrap="square" lIns="0" tIns="0" rIns="0" bIns="0" rtlCol="0" anchor="t"/>
          <a:lstStyle/>
          <a:p>
            <a:pPr marL="0" indent="0">
              <a:buNone/>
            </a:pPr>
            <a:r>
              <a:rPr lang="en-US" sz="1700" dirty="0">
                <a:solidFill>
                  <a:schemeClr val="bg1"/>
                </a:solidFill>
              </a:rPr>
              <a:t>Build and deploy an end-to-end machine-learning system that predicts a wind turbine's operating status from SCADA sensor data, usable by anyone through a web app on AWS.</a:t>
            </a:r>
            <a:endParaRPr lang="en-US" sz="1700" dirty="0"/>
          </a:p>
        </p:txBody>
      </p:sp>
      <p:sp>
        <p:nvSpPr>
          <p:cNvPr id="8" name="number 1"/>
          <p:cNvSpPr/>
          <p:nvPr/>
        </p:nvSpPr>
        <p:spPr>
          <a:xfrm>
            <a:off x="4297680" y="1143000"/>
            <a:ext cx="420624" cy="420624"/>
          </a:xfrm>
          <a:prstGeom prst="ellipse">
            <a:avLst/>
          </a:prstGeom>
          <a:solidFill>
            <a:schemeClr val="accent1"/>
          </a:solidFill>
          <a:ln w="12700">
            <a:solidFill>
              <a:schemeClr val="accent1"/>
            </a:solidFill>
            <a:prstDash val="solid"/>
          </a:ln>
        </p:spPr>
        <p:txBody>
          <a:bodyPr/>
          <a:lstStyle/>
          <a:p>
            <a:endParaRPr lang="en-US"/>
          </a:p>
        </p:txBody>
      </p:sp>
      <p:sp>
        <p:nvSpPr>
          <p:cNvPr id="9" name="Text 6"/>
          <p:cNvSpPr txBox="1"/>
          <p:nvPr/>
        </p:nvSpPr>
        <p:spPr>
          <a:xfrm>
            <a:off x="4297680" y="1143000"/>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Text 7"/>
          <p:cNvSpPr txBox="1"/>
          <p:nvPr/>
        </p:nvSpPr>
        <p:spPr>
          <a:xfrm>
            <a:off x="4892040" y="1143000"/>
            <a:ext cx="3794760" cy="420624"/>
          </a:xfrm>
          <a:prstGeom prst="rect">
            <a:avLst/>
          </a:prstGeom>
          <a:noFill/>
          <a:ln/>
        </p:spPr>
        <p:txBody>
          <a:bodyPr wrap="square" lIns="0" tIns="0" rIns="0" bIns="0" rtlCol="0" anchor="ctr"/>
          <a:lstStyle/>
          <a:p>
            <a:pPr marL="0" indent="0">
              <a:buNone/>
            </a:pPr>
            <a:r>
              <a:rPr lang="en-US" sz="1600" dirty="0">
                <a:solidFill>
                  <a:schemeClr val="tx1"/>
                </a:solidFill>
              </a:rPr>
              <a:t>Clean the messy raw Excel data</a:t>
            </a:r>
            <a:endParaRPr lang="en-US" sz="1600" dirty="0"/>
          </a:p>
        </p:txBody>
      </p:sp>
      <p:sp>
        <p:nvSpPr>
          <p:cNvPr id="11" name="number 2"/>
          <p:cNvSpPr/>
          <p:nvPr/>
        </p:nvSpPr>
        <p:spPr>
          <a:xfrm>
            <a:off x="4297680" y="1728216"/>
            <a:ext cx="420624" cy="420624"/>
          </a:xfrm>
          <a:prstGeom prst="ellipse">
            <a:avLst/>
          </a:prstGeom>
          <a:solidFill>
            <a:schemeClr val="accent1"/>
          </a:solidFill>
          <a:ln w="12700">
            <a:solidFill>
              <a:schemeClr val="accent1"/>
            </a:solidFill>
            <a:prstDash val="solid"/>
          </a:ln>
        </p:spPr>
        <p:txBody>
          <a:bodyPr/>
          <a:lstStyle/>
          <a:p>
            <a:endParaRPr lang="en-US"/>
          </a:p>
        </p:txBody>
      </p:sp>
      <p:sp>
        <p:nvSpPr>
          <p:cNvPr id="12" name="Text 9"/>
          <p:cNvSpPr txBox="1"/>
          <p:nvPr/>
        </p:nvSpPr>
        <p:spPr>
          <a:xfrm>
            <a:off x="4297680" y="1728216"/>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0"/>
          <p:cNvSpPr txBox="1"/>
          <p:nvPr/>
        </p:nvSpPr>
        <p:spPr>
          <a:xfrm>
            <a:off x="4892040" y="1728216"/>
            <a:ext cx="3794760" cy="420624"/>
          </a:xfrm>
          <a:prstGeom prst="rect">
            <a:avLst/>
          </a:prstGeom>
          <a:noFill/>
          <a:ln/>
        </p:spPr>
        <p:txBody>
          <a:bodyPr wrap="square" lIns="0" tIns="0" rIns="0" bIns="0" rtlCol="0" anchor="ctr"/>
          <a:lstStyle/>
          <a:p>
            <a:pPr marL="0" indent="0">
              <a:buNone/>
            </a:pPr>
            <a:r>
              <a:rPr lang="en-US" sz="1600" dirty="0">
                <a:solidFill>
                  <a:schemeClr val="tx1"/>
                </a:solidFill>
              </a:rPr>
              <a:t>Explore it with 8 charts</a:t>
            </a:r>
            <a:endParaRPr lang="en-US" sz="1600" dirty="0"/>
          </a:p>
        </p:txBody>
      </p:sp>
      <p:sp>
        <p:nvSpPr>
          <p:cNvPr id="14" name="number 3"/>
          <p:cNvSpPr/>
          <p:nvPr/>
        </p:nvSpPr>
        <p:spPr>
          <a:xfrm>
            <a:off x="4297680" y="2313432"/>
            <a:ext cx="420624" cy="420624"/>
          </a:xfrm>
          <a:prstGeom prst="ellipse">
            <a:avLst/>
          </a:prstGeom>
          <a:solidFill>
            <a:schemeClr val="accent1"/>
          </a:solidFill>
          <a:ln w="12700">
            <a:solidFill>
              <a:schemeClr val="accent1"/>
            </a:solidFill>
            <a:prstDash val="solid"/>
          </a:ln>
        </p:spPr>
        <p:txBody>
          <a:bodyPr/>
          <a:lstStyle/>
          <a:p>
            <a:endParaRPr lang="en-US"/>
          </a:p>
        </p:txBody>
      </p:sp>
      <p:sp>
        <p:nvSpPr>
          <p:cNvPr id="15" name="Text 12"/>
          <p:cNvSpPr txBox="1"/>
          <p:nvPr/>
        </p:nvSpPr>
        <p:spPr>
          <a:xfrm>
            <a:off x="4297680" y="2313432"/>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3"/>
          <p:cNvSpPr txBox="1"/>
          <p:nvPr/>
        </p:nvSpPr>
        <p:spPr>
          <a:xfrm>
            <a:off x="4892040" y="2313432"/>
            <a:ext cx="3794760" cy="420624"/>
          </a:xfrm>
          <a:prstGeom prst="rect">
            <a:avLst/>
          </a:prstGeom>
          <a:noFill/>
          <a:ln/>
        </p:spPr>
        <p:txBody>
          <a:bodyPr wrap="square" lIns="0" tIns="0" rIns="0" bIns="0" rtlCol="0" anchor="ctr"/>
          <a:lstStyle/>
          <a:p>
            <a:pPr marL="0" indent="0">
              <a:buNone/>
            </a:pPr>
            <a:r>
              <a:rPr lang="en-US" sz="1600" dirty="0">
                <a:solidFill>
                  <a:schemeClr val="tx1"/>
                </a:solidFill>
              </a:rPr>
              <a:t>Compare 4 machine-learning models</a:t>
            </a:r>
            <a:endParaRPr lang="en-US" sz="1600" dirty="0"/>
          </a:p>
        </p:txBody>
      </p:sp>
      <p:sp>
        <p:nvSpPr>
          <p:cNvPr id="17" name="number 4"/>
          <p:cNvSpPr/>
          <p:nvPr/>
        </p:nvSpPr>
        <p:spPr>
          <a:xfrm>
            <a:off x="4297680" y="2898648"/>
            <a:ext cx="420624" cy="420624"/>
          </a:xfrm>
          <a:prstGeom prst="ellipse">
            <a:avLst/>
          </a:prstGeom>
          <a:solidFill>
            <a:schemeClr val="accent1"/>
          </a:solidFill>
          <a:ln w="12700">
            <a:solidFill>
              <a:schemeClr val="accent1"/>
            </a:solidFill>
            <a:prstDash val="solid"/>
          </a:ln>
        </p:spPr>
        <p:txBody>
          <a:bodyPr/>
          <a:lstStyle/>
          <a:p>
            <a:endParaRPr lang="en-US"/>
          </a:p>
        </p:txBody>
      </p:sp>
      <p:sp>
        <p:nvSpPr>
          <p:cNvPr id="18" name="Text 15"/>
          <p:cNvSpPr txBox="1"/>
          <p:nvPr/>
        </p:nvSpPr>
        <p:spPr>
          <a:xfrm>
            <a:off x="4297680" y="2898648"/>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4892040" y="2898648"/>
            <a:ext cx="3794760" cy="420624"/>
          </a:xfrm>
          <a:prstGeom prst="rect">
            <a:avLst/>
          </a:prstGeom>
          <a:noFill/>
          <a:ln/>
        </p:spPr>
        <p:txBody>
          <a:bodyPr wrap="square" lIns="0" tIns="0" rIns="0" bIns="0" rtlCol="0" anchor="ctr"/>
          <a:lstStyle/>
          <a:p>
            <a:pPr marL="0" indent="0">
              <a:buNone/>
            </a:pPr>
            <a:r>
              <a:rPr lang="en-US" sz="1600" dirty="0">
                <a:solidFill>
                  <a:schemeClr val="tx1"/>
                </a:solidFill>
              </a:rPr>
              <a:t>Select the best using macro-F1</a:t>
            </a:r>
            <a:endParaRPr lang="en-US" sz="1600" dirty="0"/>
          </a:p>
        </p:txBody>
      </p:sp>
      <p:sp>
        <p:nvSpPr>
          <p:cNvPr id="20" name="number 5"/>
          <p:cNvSpPr/>
          <p:nvPr/>
        </p:nvSpPr>
        <p:spPr>
          <a:xfrm>
            <a:off x="4297680" y="3483864"/>
            <a:ext cx="420624" cy="420624"/>
          </a:xfrm>
          <a:prstGeom prst="ellipse">
            <a:avLst/>
          </a:prstGeom>
          <a:solidFill>
            <a:schemeClr val="accent1"/>
          </a:solidFill>
          <a:ln w="12700">
            <a:solidFill>
              <a:schemeClr val="accent1"/>
            </a:solidFill>
            <a:prstDash val="solid"/>
          </a:ln>
        </p:spPr>
        <p:txBody>
          <a:bodyPr/>
          <a:lstStyle/>
          <a:p>
            <a:endParaRPr lang="en-US"/>
          </a:p>
        </p:txBody>
      </p:sp>
      <p:sp>
        <p:nvSpPr>
          <p:cNvPr id="21" name="Text 18"/>
          <p:cNvSpPr txBox="1"/>
          <p:nvPr/>
        </p:nvSpPr>
        <p:spPr>
          <a:xfrm>
            <a:off x="4297680" y="3483864"/>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2" name="Text 19"/>
          <p:cNvSpPr txBox="1"/>
          <p:nvPr/>
        </p:nvSpPr>
        <p:spPr>
          <a:xfrm>
            <a:off x="4892040" y="3483864"/>
            <a:ext cx="3794760" cy="420624"/>
          </a:xfrm>
          <a:prstGeom prst="rect">
            <a:avLst/>
          </a:prstGeom>
          <a:noFill/>
          <a:ln/>
        </p:spPr>
        <p:txBody>
          <a:bodyPr wrap="square" lIns="0" tIns="0" rIns="0" bIns="0" rtlCol="0" anchor="ctr"/>
          <a:lstStyle/>
          <a:p>
            <a:pPr marL="0" indent="0">
              <a:buNone/>
            </a:pPr>
            <a:r>
              <a:rPr lang="en-US" sz="1600" dirty="0">
                <a:solidFill>
                  <a:schemeClr val="tx1"/>
                </a:solidFill>
              </a:rPr>
              <a:t>Build a web app with 3 input modes</a:t>
            </a:r>
            <a:endParaRPr lang="en-US" sz="1600" dirty="0"/>
          </a:p>
        </p:txBody>
      </p:sp>
      <p:sp>
        <p:nvSpPr>
          <p:cNvPr id="23" name="number 6"/>
          <p:cNvSpPr/>
          <p:nvPr/>
        </p:nvSpPr>
        <p:spPr>
          <a:xfrm>
            <a:off x="4297680" y="4069080"/>
            <a:ext cx="420624" cy="420624"/>
          </a:xfrm>
          <a:prstGeom prst="ellipse">
            <a:avLst/>
          </a:prstGeom>
          <a:solidFill>
            <a:schemeClr val="accent1"/>
          </a:solidFill>
          <a:ln w="12700">
            <a:solidFill>
              <a:schemeClr val="accent1"/>
            </a:solidFill>
            <a:prstDash val="solid"/>
          </a:ln>
        </p:spPr>
        <p:txBody>
          <a:bodyPr/>
          <a:lstStyle/>
          <a:p>
            <a:endParaRPr lang="en-US"/>
          </a:p>
        </p:txBody>
      </p:sp>
      <p:sp>
        <p:nvSpPr>
          <p:cNvPr id="24" name="Text 21"/>
          <p:cNvSpPr txBox="1"/>
          <p:nvPr/>
        </p:nvSpPr>
        <p:spPr>
          <a:xfrm>
            <a:off x="4297680" y="4069080"/>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5" name="Text 22"/>
          <p:cNvSpPr txBox="1"/>
          <p:nvPr/>
        </p:nvSpPr>
        <p:spPr>
          <a:xfrm>
            <a:off x="4892040" y="4069080"/>
            <a:ext cx="3794760" cy="420624"/>
          </a:xfrm>
          <a:prstGeom prst="rect">
            <a:avLst/>
          </a:prstGeom>
          <a:noFill/>
          <a:ln/>
        </p:spPr>
        <p:txBody>
          <a:bodyPr wrap="square" lIns="0" tIns="0" rIns="0" bIns="0" rtlCol="0" anchor="ctr"/>
          <a:lstStyle/>
          <a:p>
            <a:pPr marL="0" indent="0">
              <a:buNone/>
            </a:pPr>
            <a:r>
              <a:rPr lang="en-US" sz="1600" dirty="0">
                <a:solidFill>
                  <a:schemeClr val="tx1"/>
                </a:solidFill>
              </a:rPr>
              <a:t>Deploy on AWS (Beanstalk, EC2, App Runner)</a:t>
            </a:r>
            <a:endParaRPr lang="en-US" sz="16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Background: the data and the target</a:t>
            </a:r>
            <a:endParaRPr lang="en-US" sz="3000" dirty="0"/>
          </a:p>
        </p:txBody>
      </p:sp>
      <p:graphicFrame>
        <p:nvGraphicFramePr>
          <p:cNvPr id="3" name="Chart 0"/>
          <p:cNvGraphicFramePr/>
          <p:nvPr/>
        </p:nvGraphicFramePr>
        <p:xfrm>
          <a:off x="365760" y="1097280"/>
          <a:ext cx="411480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4" name="icon circle FaDatabase"/>
          <p:cNvSpPr/>
          <p:nvPr/>
        </p:nvSpPr>
        <p:spPr>
          <a:xfrm>
            <a:off x="4754880" y="1188720"/>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5" name="icon FaDatabase" descr="FaDatabase"/>
          <p:cNvPicPr>
            <a:picLocks noChangeAspect="1"/>
          </p:cNvPicPr>
          <p:nvPr/>
        </p:nvPicPr>
        <p:blipFill>
          <a:blip r:embed="rId4"/>
          <a:stretch>
            <a:fillRect/>
          </a:stretch>
        </p:blipFill>
        <p:spPr>
          <a:xfrm>
            <a:off x="4865522" y="1299362"/>
            <a:ext cx="281635" cy="281635"/>
          </a:xfrm>
          <a:prstGeom prst="rect">
            <a:avLst/>
          </a:prstGeom>
        </p:spPr>
      </p:pic>
      <p:sp>
        <p:nvSpPr>
          <p:cNvPr id="6" name="Text 2"/>
          <p:cNvSpPr txBox="1"/>
          <p:nvPr/>
        </p:nvSpPr>
        <p:spPr>
          <a:xfrm>
            <a:off x="5440680" y="1188720"/>
            <a:ext cx="3246120" cy="274320"/>
          </a:xfrm>
          <a:prstGeom prst="rect">
            <a:avLst/>
          </a:prstGeom>
          <a:noFill/>
          <a:ln/>
        </p:spPr>
        <p:txBody>
          <a:bodyPr wrap="square" lIns="0" tIns="0" rIns="0" bIns="0" rtlCol="0" anchor="t"/>
          <a:lstStyle/>
          <a:p>
            <a:pPr marL="0" indent="0">
              <a:buNone/>
            </a:pPr>
            <a:r>
              <a:rPr lang="en-US" sz="1600" b="1" dirty="0">
                <a:solidFill>
                  <a:schemeClr val="tx1"/>
                </a:solidFill>
              </a:rPr>
              <a:t>SCADA data</a:t>
            </a:r>
            <a:endParaRPr lang="en-US" sz="1600" dirty="0"/>
          </a:p>
        </p:txBody>
      </p:sp>
      <p:sp>
        <p:nvSpPr>
          <p:cNvPr id="7" name="Text 3"/>
          <p:cNvSpPr txBox="1"/>
          <p:nvPr/>
        </p:nvSpPr>
        <p:spPr>
          <a:xfrm>
            <a:off x="5440680" y="1481328"/>
            <a:ext cx="3246120" cy="777240"/>
          </a:xfrm>
          <a:prstGeom prst="rect">
            <a:avLst/>
          </a:prstGeom>
          <a:noFill/>
          <a:ln/>
        </p:spPr>
        <p:txBody>
          <a:bodyPr wrap="square" lIns="0" tIns="0" rIns="0" bIns="0" rtlCol="0" anchor="t"/>
          <a:lstStyle/>
          <a:p>
            <a:pPr marL="0" indent="0">
              <a:buNone/>
            </a:pPr>
            <a:r>
              <a:rPr lang="en-US" sz="1300" dirty="0">
                <a:solidFill>
                  <a:schemeClr val="tx1"/>
                </a:solidFill>
              </a:rPr>
              <a:t>10-minute records, 81 sensor statistics (average, min, max, std). Names are anonymised.</a:t>
            </a:r>
            <a:endParaRPr lang="en-US" sz="1300" dirty="0"/>
          </a:p>
        </p:txBody>
      </p:sp>
      <p:sp>
        <p:nvSpPr>
          <p:cNvPr id="8" name="icon circle FaTags"/>
          <p:cNvSpPr/>
          <p:nvPr/>
        </p:nvSpPr>
        <p:spPr>
          <a:xfrm>
            <a:off x="4754880" y="2331720"/>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9" name="icon FaTags" descr="FaTags"/>
          <p:cNvPicPr>
            <a:picLocks noChangeAspect="1"/>
          </p:cNvPicPr>
          <p:nvPr/>
        </p:nvPicPr>
        <p:blipFill>
          <a:blip r:embed="rId5"/>
          <a:stretch>
            <a:fillRect/>
          </a:stretch>
        </p:blipFill>
        <p:spPr>
          <a:xfrm>
            <a:off x="4865522" y="2442362"/>
            <a:ext cx="281635" cy="281635"/>
          </a:xfrm>
          <a:prstGeom prst="rect">
            <a:avLst/>
          </a:prstGeom>
        </p:spPr>
      </p:pic>
      <p:sp>
        <p:nvSpPr>
          <p:cNvPr id="10" name="Text 5"/>
          <p:cNvSpPr txBox="1"/>
          <p:nvPr/>
        </p:nvSpPr>
        <p:spPr>
          <a:xfrm>
            <a:off x="5440680" y="2331720"/>
            <a:ext cx="3246120" cy="274320"/>
          </a:xfrm>
          <a:prstGeom prst="rect">
            <a:avLst/>
          </a:prstGeom>
          <a:noFill/>
          <a:ln/>
        </p:spPr>
        <p:txBody>
          <a:bodyPr wrap="square" lIns="0" tIns="0" rIns="0" bIns="0" rtlCol="0" anchor="t"/>
          <a:lstStyle/>
          <a:p>
            <a:pPr marL="0" indent="0">
              <a:buNone/>
            </a:pPr>
            <a:r>
              <a:rPr lang="en-US" sz="1600" b="1" dirty="0">
                <a:solidFill>
                  <a:schemeClr val="tx1"/>
                </a:solidFill>
              </a:rPr>
              <a:t>Status codes</a:t>
            </a:r>
            <a:endParaRPr lang="en-US" sz="1600" dirty="0"/>
          </a:p>
        </p:txBody>
      </p:sp>
      <p:sp>
        <p:nvSpPr>
          <p:cNvPr id="11" name="Text 6"/>
          <p:cNvSpPr txBox="1"/>
          <p:nvPr/>
        </p:nvSpPr>
        <p:spPr>
          <a:xfrm>
            <a:off x="5440680" y="2624328"/>
            <a:ext cx="3246120" cy="777240"/>
          </a:xfrm>
          <a:prstGeom prst="rect">
            <a:avLst/>
          </a:prstGeom>
          <a:noFill/>
          <a:ln/>
        </p:spPr>
        <p:txBody>
          <a:bodyPr wrap="square" lIns="0" tIns="0" rIns="0" bIns="0" rtlCol="0" anchor="t"/>
          <a:lstStyle/>
          <a:p>
            <a:pPr marL="0" indent="0">
              <a:buNone/>
            </a:pPr>
            <a:r>
              <a:rPr lang="en-US" sz="1300" dirty="0">
                <a:solidFill>
                  <a:schemeClr val="tx1"/>
                </a:solidFill>
              </a:rPr>
              <a:t>0 = normal, 3 = service, 5 = other downtime (standard convention; to be confirmed with the data owner).</a:t>
            </a:r>
            <a:endParaRPr lang="en-US" sz="1300" dirty="0"/>
          </a:p>
        </p:txBody>
      </p:sp>
      <p:sp>
        <p:nvSpPr>
          <p:cNvPr id="12" name="icon circle FaBalanceScale"/>
          <p:cNvSpPr/>
          <p:nvPr/>
        </p:nvSpPr>
        <p:spPr>
          <a:xfrm>
            <a:off x="4754880" y="3474720"/>
            <a:ext cx="502920" cy="502920"/>
          </a:xfrm>
          <a:prstGeom prst="ellipse">
            <a:avLst/>
          </a:prstGeom>
          <a:solidFill>
            <a:schemeClr val="accent1"/>
          </a:solidFill>
          <a:ln w="12700">
            <a:solidFill>
              <a:schemeClr val="accent1"/>
            </a:solidFill>
            <a:prstDash val="solid"/>
          </a:ln>
        </p:spPr>
        <p:txBody>
          <a:bodyPr/>
          <a:lstStyle/>
          <a:p>
            <a:endParaRPr lang="en-US"/>
          </a:p>
        </p:txBody>
      </p:sp>
      <p:pic>
        <p:nvPicPr>
          <p:cNvPr id="13" name="icon FaBalanceScale" descr="FaBalanceScale"/>
          <p:cNvPicPr>
            <a:picLocks noChangeAspect="1"/>
          </p:cNvPicPr>
          <p:nvPr/>
        </p:nvPicPr>
        <p:blipFill>
          <a:blip r:embed="rId6"/>
          <a:stretch>
            <a:fillRect/>
          </a:stretch>
        </p:blipFill>
        <p:spPr>
          <a:xfrm>
            <a:off x="4865522" y="3585362"/>
            <a:ext cx="281635" cy="281635"/>
          </a:xfrm>
          <a:prstGeom prst="rect">
            <a:avLst/>
          </a:prstGeom>
        </p:spPr>
      </p:pic>
      <p:sp>
        <p:nvSpPr>
          <p:cNvPr id="14" name="Text 8"/>
          <p:cNvSpPr txBox="1"/>
          <p:nvPr/>
        </p:nvSpPr>
        <p:spPr>
          <a:xfrm>
            <a:off x="5440680" y="3474720"/>
            <a:ext cx="3246120" cy="274320"/>
          </a:xfrm>
          <a:prstGeom prst="rect">
            <a:avLst/>
          </a:prstGeom>
          <a:noFill/>
          <a:ln/>
        </p:spPr>
        <p:txBody>
          <a:bodyPr wrap="square" lIns="0" tIns="0" rIns="0" bIns="0" rtlCol="0" anchor="t"/>
          <a:lstStyle/>
          <a:p>
            <a:pPr marL="0" indent="0">
              <a:buNone/>
            </a:pPr>
            <a:r>
              <a:rPr lang="en-US" sz="1600" b="1" dirty="0">
                <a:solidFill>
                  <a:schemeClr val="tx1"/>
                </a:solidFill>
              </a:rPr>
              <a:t>Class imbalance</a:t>
            </a:r>
            <a:endParaRPr lang="en-US" sz="1600" dirty="0"/>
          </a:p>
        </p:txBody>
      </p:sp>
      <p:sp>
        <p:nvSpPr>
          <p:cNvPr id="15" name="Text 9"/>
          <p:cNvSpPr txBox="1"/>
          <p:nvPr/>
        </p:nvSpPr>
        <p:spPr>
          <a:xfrm>
            <a:off x="5440680" y="3767328"/>
            <a:ext cx="3246120" cy="777240"/>
          </a:xfrm>
          <a:prstGeom prst="rect">
            <a:avLst/>
          </a:prstGeom>
          <a:noFill/>
          <a:ln/>
        </p:spPr>
        <p:txBody>
          <a:bodyPr wrap="square" lIns="0" tIns="0" rIns="0" bIns="0" rtlCol="0" anchor="t"/>
          <a:lstStyle/>
          <a:p>
            <a:pPr marL="0" indent="0">
              <a:buNone/>
            </a:pPr>
            <a:r>
              <a:rPr lang="en-US" sz="1300" dirty="0">
                <a:solidFill>
                  <a:schemeClr val="tx1"/>
                </a:solidFill>
              </a:rPr>
              <a:t>One class dominates, so plain accuracy is misleading. We use class weights and macro-F1.</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Previous work vs. what we do extra</a:t>
            </a:r>
            <a:endParaRPr lang="en-US" sz="3000" dirty="0"/>
          </a:p>
        </p:txBody>
      </p:sp>
      <p:sp>
        <p:nvSpPr>
          <p:cNvPr id="3" name="previous work card"/>
          <p:cNvSpPr/>
          <p:nvPr/>
        </p:nvSpPr>
        <p:spPr>
          <a:xfrm>
            <a:off x="457200" y="1143000"/>
            <a:ext cx="3749040" cy="3429000"/>
          </a:xfrm>
          <a:prstGeom prst="roundRect">
            <a:avLst>
              <a:gd name="adj" fmla="val 3200"/>
            </a:avLst>
          </a:prstGeom>
          <a:solidFill>
            <a:schemeClr val="bg2"/>
          </a:solidFill>
          <a:ln w="12700">
            <a:solidFill>
              <a:schemeClr val="accent6"/>
            </a:solidFill>
            <a:prstDash val="solid"/>
          </a:ln>
        </p:spPr>
        <p:txBody>
          <a:bodyPr/>
          <a:lstStyle/>
          <a:p>
            <a:endParaRPr lang="en-US"/>
          </a:p>
        </p:txBody>
      </p:sp>
      <p:sp>
        <p:nvSpPr>
          <p:cNvPr id="4" name="Text 2"/>
          <p:cNvSpPr txBox="1"/>
          <p:nvPr/>
        </p:nvSpPr>
        <p:spPr>
          <a:xfrm>
            <a:off x="685800" y="1280160"/>
            <a:ext cx="3291840" cy="365760"/>
          </a:xfrm>
          <a:prstGeom prst="rect">
            <a:avLst/>
          </a:prstGeom>
          <a:noFill/>
          <a:ln/>
        </p:spPr>
        <p:txBody>
          <a:bodyPr wrap="square" lIns="0" tIns="0" rIns="0" bIns="0" rtlCol="0" anchor="t"/>
          <a:lstStyle/>
          <a:p>
            <a:pPr marL="0" indent="0">
              <a:buNone/>
            </a:pPr>
            <a:r>
              <a:rPr lang="en-US" sz="2000" b="1" dirty="0">
                <a:solidFill>
                  <a:schemeClr val="accent6"/>
                </a:solidFill>
              </a:rPr>
              <a:t>Previous work</a:t>
            </a:r>
            <a:endParaRPr lang="en-US" sz="2000" dirty="0"/>
          </a:p>
        </p:txBody>
      </p:sp>
      <p:sp>
        <p:nvSpPr>
          <p:cNvPr id="5" name="Text 3"/>
          <p:cNvSpPr txBox="1"/>
          <p:nvPr/>
        </p:nvSpPr>
        <p:spPr>
          <a:xfrm>
            <a:off x="685800" y="1783080"/>
            <a:ext cx="3337560" cy="26974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Mostly component faults and anomaly detection</a:t>
            </a:r>
            <a:endParaRPr lang="en-US" sz="1600" dirty="0"/>
          </a:p>
          <a:p>
            <a:pPr marL="342900" indent="-342900">
              <a:spcAft>
                <a:spcPts val="1200"/>
              </a:spcAft>
              <a:buSzPct val="100000"/>
              <a:buChar char="•"/>
            </a:pPr>
            <a:r>
              <a:rPr lang="en-US" sz="1600" dirty="0">
                <a:solidFill>
                  <a:schemeClr val="tx1"/>
                </a:solidFill>
              </a:rPr>
              <a:t>Judged by accuracy; imbalance often ignored</a:t>
            </a:r>
            <a:endParaRPr lang="en-US" sz="1600" dirty="0"/>
          </a:p>
          <a:p>
            <a:pPr marL="342900" indent="-342900">
              <a:spcAft>
                <a:spcPts val="1200"/>
              </a:spcAft>
              <a:buSzPct val="100000"/>
              <a:buChar char="•"/>
            </a:pPr>
            <a:r>
              <a:rPr lang="en-US" sz="1600" dirty="0">
                <a:solidFill>
                  <a:schemeClr val="tx1"/>
                </a:solidFill>
              </a:rPr>
              <a:t>Papers and experiments, rarely a usable tool</a:t>
            </a:r>
            <a:endParaRPr lang="en-US" sz="1600" dirty="0"/>
          </a:p>
          <a:p>
            <a:pPr marL="342900" indent="-342900">
              <a:spcAft>
                <a:spcPts val="1200"/>
              </a:spcAft>
              <a:buSzPct val="100000"/>
              <a:buChar char="•"/>
            </a:pPr>
            <a:r>
              <a:rPr lang="en-US" sz="1600" dirty="0">
                <a:solidFill>
                  <a:schemeClr val="tx1"/>
                </a:solidFill>
              </a:rPr>
              <a:t>Clean benchmark data is assumed</a:t>
            </a:r>
            <a:endParaRPr lang="en-US" sz="1600" dirty="0"/>
          </a:p>
        </p:txBody>
      </p:sp>
      <p:sp>
        <p:nvSpPr>
          <p:cNvPr id="6" name="our contribution card"/>
          <p:cNvSpPr/>
          <p:nvPr/>
        </p:nvSpPr>
        <p:spPr>
          <a:xfrm>
            <a:off x="4937760" y="1143000"/>
            <a:ext cx="3749040" cy="3429000"/>
          </a:xfrm>
          <a:prstGeom prst="roundRect">
            <a:avLst>
              <a:gd name="adj" fmla="val 3200"/>
            </a:avLst>
          </a:prstGeom>
          <a:solidFill>
            <a:schemeClr val="accent1"/>
          </a:solidFill>
          <a:ln w="12700">
            <a:solidFill>
              <a:schemeClr val="accent1"/>
            </a:solidFill>
            <a:prstDash val="solid"/>
          </a:ln>
          <a:effectLst>
            <a:outerShdw blurRad="101600" dist="25400" dir="5400000" algn="bl" rotWithShape="0">
              <a:srgbClr val="000000">
                <a:alpha val="14000"/>
              </a:srgbClr>
            </a:outerShdw>
          </a:effectLst>
        </p:spPr>
        <p:txBody>
          <a:bodyPr/>
          <a:lstStyle/>
          <a:p>
            <a:endParaRPr lang="en-US"/>
          </a:p>
        </p:txBody>
      </p:sp>
      <p:sp>
        <p:nvSpPr>
          <p:cNvPr id="7" name="Text 5"/>
          <p:cNvSpPr txBox="1"/>
          <p:nvPr/>
        </p:nvSpPr>
        <p:spPr>
          <a:xfrm>
            <a:off x="5166360" y="1280160"/>
            <a:ext cx="3291840" cy="365760"/>
          </a:xfrm>
          <a:prstGeom prst="rect">
            <a:avLst/>
          </a:prstGeom>
          <a:noFill/>
          <a:ln/>
        </p:spPr>
        <p:txBody>
          <a:bodyPr wrap="square" lIns="0" tIns="0" rIns="0" bIns="0" rtlCol="0" anchor="t"/>
          <a:lstStyle/>
          <a:p>
            <a:pPr marL="0" indent="0">
              <a:buNone/>
            </a:pPr>
            <a:r>
              <a:rPr lang="en-US" sz="2000" b="1" dirty="0">
                <a:solidFill>
                  <a:schemeClr val="bg1"/>
                </a:solidFill>
              </a:rPr>
              <a:t>What we do extra</a:t>
            </a:r>
            <a:endParaRPr lang="en-US" sz="2000" dirty="0"/>
          </a:p>
        </p:txBody>
      </p:sp>
      <p:sp>
        <p:nvSpPr>
          <p:cNvPr id="8" name="Text 6"/>
          <p:cNvSpPr txBox="1"/>
          <p:nvPr/>
        </p:nvSpPr>
        <p:spPr>
          <a:xfrm>
            <a:off x="5166360" y="1783080"/>
            <a:ext cx="333756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bg1"/>
                </a:solidFill>
              </a:rPr>
              <a:t>Predict the general operating status</a:t>
            </a:r>
            <a:endParaRPr lang="en-US" sz="1500" dirty="0"/>
          </a:p>
          <a:p>
            <a:pPr marL="342900" indent="-342900">
              <a:spcAft>
                <a:spcPts val="900"/>
              </a:spcAft>
              <a:buSzPct val="100000"/>
              <a:buChar char="•"/>
            </a:pPr>
            <a:r>
              <a:rPr lang="en-US" sz="1500" dirty="0">
                <a:solidFill>
                  <a:schemeClr val="bg1"/>
                </a:solidFill>
              </a:rPr>
              <a:t>Repair a real messy file (hidden header bug)</a:t>
            </a:r>
            <a:endParaRPr lang="en-US" sz="1500" dirty="0"/>
          </a:p>
          <a:p>
            <a:pPr marL="342900" indent="-342900">
              <a:spcAft>
                <a:spcPts val="900"/>
              </a:spcAft>
              <a:buSzPct val="100000"/>
              <a:buChar char="•"/>
            </a:pPr>
            <a:r>
              <a:rPr lang="en-US" sz="1500" dirty="0">
                <a:solidFill>
                  <a:schemeClr val="bg1"/>
                </a:solidFill>
              </a:rPr>
              <a:t>Choose the model by macro-F1; show per-class results honestly</a:t>
            </a:r>
            <a:endParaRPr lang="en-US" sz="1500" dirty="0"/>
          </a:p>
          <a:p>
            <a:pPr marL="342900" indent="-342900">
              <a:spcAft>
                <a:spcPts val="900"/>
              </a:spcAft>
              <a:buSzPct val="100000"/>
              <a:buChar char="•"/>
            </a:pPr>
            <a:r>
              <a:rPr lang="en-US" sz="1500" dirty="0">
                <a:solidFill>
                  <a:schemeClr val="bg1"/>
                </a:solidFill>
              </a:rPr>
              <a:t>Web app: single reading, pasted row or upload</a:t>
            </a:r>
            <a:endParaRPr lang="en-US" sz="1500" dirty="0"/>
          </a:p>
          <a:p>
            <a:pPr marL="342900" indent="-342900">
              <a:spcAft>
                <a:spcPts val="900"/>
              </a:spcAft>
              <a:buSzPct val="100000"/>
              <a:buChar char="•"/>
            </a:pPr>
            <a:r>
              <a:rPr lang="en-US" sz="1500" dirty="0">
                <a:solidFill>
                  <a:schemeClr val="bg1"/>
                </a:solidFill>
              </a:rPr>
              <a:t>Explain each prediction; AWS-ready</a:t>
            </a:r>
            <a:endParaRPr lang="en-US" sz="1500" dirty="0"/>
          </a:p>
        </p:txBody>
      </p:sp>
      <p:sp>
        <p:nvSpPr>
          <p:cNvPr id="9" name="vs circle"/>
          <p:cNvSpPr/>
          <p:nvPr/>
        </p:nvSpPr>
        <p:spPr>
          <a:xfrm>
            <a:off x="4206240" y="2514600"/>
            <a:ext cx="731520" cy="731520"/>
          </a:xfrm>
          <a:prstGeom prst="ellipse">
            <a:avLst/>
          </a:prstGeom>
          <a:solidFill>
            <a:schemeClr val="tx1"/>
          </a:solidFill>
          <a:ln w="25400">
            <a:solidFill>
              <a:schemeClr val="bg1"/>
            </a:solidFill>
            <a:prstDash val="solid"/>
          </a:ln>
        </p:spPr>
        <p:txBody>
          <a:bodyPr/>
          <a:lstStyle/>
          <a:p>
            <a:endParaRPr lang="en-US"/>
          </a:p>
        </p:txBody>
      </p:sp>
      <p:sp>
        <p:nvSpPr>
          <p:cNvPr id="10" name="Text 8"/>
          <p:cNvSpPr txBox="1"/>
          <p:nvPr/>
        </p:nvSpPr>
        <p:spPr>
          <a:xfrm>
            <a:off x="4206240" y="2514600"/>
            <a:ext cx="731520" cy="731520"/>
          </a:xfrm>
          <a:prstGeom prst="rect">
            <a:avLst/>
          </a:prstGeom>
          <a:noFill/>
          <a:ln/>
        </p:spPr>
        <p:txBody>
          <a:bodyPr wrap="square" lIns="0" tIns="0" rIns="0" bIns="0" rtlCol="0" anchor="ctr"/>
          <a:lstStyle/>
          <a:p>
            <a:pPr marL="0" indent="0" algn="ctr">
              <a:buNone/>
            </a:pPr>
            <a:r>
              <a:rPr lang="en-US" sz="1600" b="1" dirty="0">
                <a:solidFill>
                  <a:schemeClr val="bg1"/>
                </a:solidFill>
              </a:rPr>
              <a:t>VS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Methodology (1): workflow and data cleaning</a:t>
            </a:r>
            <a:endParaRPr lang="en-US" sz="3000" dirty="0"/>
          </a:p>
        </p:txBody>
      </p:sp>
      <p:sp>
        <p:nvSpPr>
          <p:cNvPr id="3" name="step Load"/>
          <p:cNvSpPr/>
          <p:nvPr/>
        </p:nvSpPr>
        <p:spPr>
          <a:xfrm>
            <a:off x="457200" y="1143000"/>
            <a:ext cx="1143000" cy="731520"/>
          </a:xfrm>
          <a:prstGeom prst="homePlate">
            <a:avLst/>
          </a:prstGeom>
          <a:solidFill>
            <a:schemeClr val="accent1"/>
          </a:solidFill>
          <a:ln w="12700">
            <a:solidFill>
              <a:schemeClr val="bg1"/>
            </a:solidFill>
            <a:prstDash val="solid"/>
          </a:ln>
        </p:spPr>
        <p:txBody>
          <a:bodyPr/>
          <a:lstStyle/>
          <a:p>
            <a:endParaRPr lang="en-US"/>
          </a:p>
        </p:txBody>
      </p:sp>
      <p:sp>
        <p:nvSpPr>
          <p:cNvPr id="4" name="Text 2"/>
          <p:cNvSpPr txBox="1"/>
          <p:nvPr/>
        </p:nvSpPr>
        <p:spPr>
          <a:xfrm>
            <a:off x="502920" y="1143000"/>
            <a:ext cx="914400" cy="731520"/>
          </a:xfrm>
          <a:prstGeom prst="rect">
            <a:avLst/>
          </a:prstGeom>
          <a:noFill/>
          <a:ln/>
        </p:spPr>
        <p:txBody>
          <a:bodyPr wrap="square" lIns="0" tIns="0" rIns="0" bIns="0" rtlCol="0" anchor="ctr"/>
          <a:lstStyle/>
          <a:p>
            <a:pPr marL="0" indent="0" algn="ctr">
              <a:buNone/>
            </a:pPr>
            <a:r>
              <a:rPr lang="en-US" sz="1400" b="1" dirty="0">
                <a:solidFill>
                  <a:schemeClr val="bg1"/>
                </a:solidFill>
              </a:rPr>
              <a:t>Load</a:t>
            </a:r>
            <a:endParaRPr lang="en-US" sz="1400" dirty="0"/>
          </a:p>
        </p:txBody>
      </p:sp>
      <p:sp>
        <p:nvSpPr>
          <p:cNvPr id="5" name="step Clean"/>
          <p:cNvSpPr/>
          <p:nvPr/>
        </p:nvSpPr>
        <p:spPr>
          <a:xfrm>
            <a:off x="1645920" y="1143000"/>
            <a:ext cx="1143000" cy="731520"/>
          </a:xfrm>
          <a:prstGeom prst="homePlate">
            <a:avLst/>
          </a:prstGeom>
          <a:solidFill>
            <a:srgbClr val="FF7B7B"/>
          </a:solidFill>
          <a:ln w="12700">
            <a:solidFill>
              <a:schemeClr val="bg1"/>
            </a:solidFill>
            <a:prstDash val="solid"/>
          </a:ln>
        </p:spPr>
        <p:txBody>
          <a:bodyPr/>
          <a:lstStyle/>
          <a:p>
            <a:endParaRPr lang="en-US"/>
          </a:p>
        </p:txBody>
      </p:sp>
      <p:sp>
        <p:nvSpPr>
          <p:cNvPr id="6" name="Text 4"/>
          <p:cNvSpPr txBox="1"/>
          <p:nvPr/>
        </p:nvSpPr>
        <p:spPr>
          <a:xfrm>
            <a:off x="1691640" y="1143000"/>
            <a:ext cx="914400" cy="731520"/>
          </a:xfrm>
          <a:prstGeom prst="rect">
            <a:avLst/>
          </a:prstGeom>
          <a:noFill/>
          <a:ln/>
        </p:spPr>
        <p:txBody>
          <a:bodyPr wrap="square" lIns="0" tIns="0" rIns="0" bIns="0" rtlCol="0" anchor="ctr"/>
          <a:lstStyle/>
          <a:p>
            <a:pPr marL="0" indent="0" algn="ctr">
              <a:buNone/>
            </a:pPr>
            <a:r>
              <a:rPr lang="en-US" sz="1400" b="1" dirty="0">
                <a:solidFill>
                  <a:schemeClr val="bg1"/>
                </a:solidFill>
              </a:rPr>
              <a:t>Clean</a:t>
            </a:r>
            <a:endParaRPr lang="en-US" sz="1400" dirty="0"/>
          </a:p>
        </p:txBody>
      </p:sp>
      <p:sp>
        <p:nvSpPr>
          <p:cNvPr id="7" name="step Transform"/>
          <p:cNvSpPr/>
          <p:nvPr/>
        </p:nvSpPr>
        <p:spPr>
          <a:xfrm>
            <a:off x="2834640" y="1143000"/>
            <a:ext cx="1143000" cy="731520"/>
          </a:xfrm>
          <a:prstGeom prst="homePlate">
            <a:avLst/>
          </a:prstGeom>
          <a:solidFill>
            <a:schemeClr val="accent1"/>
          </a:solidFill>
          <a:ln w="12700">
            <a:solidFill>
              <a:schemeClr val="bg1"/>
            </a:solidFill>
            <a:prstDash val="solid"/>
          </a:ln>
        </p:spPr>
        <p:txBody>
          <a:bodyPr/>
          <a:lstStyle/>
          <a:p>
            <a:endParaRPr lang="en-US"/>
          </a:p>
        </p:txBody>
      </p:sp>
      <p:sp>
        <p:nvSpPr>
          <p:cNvPr id="8" name="Text 6"/>
          <p:cNvSpPr txBox="1"/>
          <p:nvPr/>
        </p:nvSpPr>
        <p:spPr>
          <a:xfrm>
            <a:off x="2880360" y="1143000"/>
            <a:ext cx="914400" cy="731520"/>
          </a:xfrm>
          <a:prstGeom prst="rect">
            <a:avLst/>
          </a:prstGeom>
          <a:noFill/>
          <a:ln/>
        </p:spPr>
        <p:txBody>
          <a:bodyPr wrap="square" lIns="0" tIns="0" rIns="0" bIns="0" rtlCol="0" anchor="ctr"/>
          <a:lstStyle/>
          <a:p>
            <a:pPr marL="0" indent="0" algn="ctr">
              <a:buNone/>
            </a:pPr>
            <a:r>
              <a:rPr lang="en-US" sz="1400" b="1" dirty="0">
                <a:solidFill>
                  <a:schemeClr val="bg1"/>
                </a:solidFill>
              </a:rPr>
              <a:t>Transform</a:t>
            </a:r>
            <a:endParaRPr lang="en-US" sz="1400" dirty="0"/>
          </a:p>
        </p:txBody>
      </p:sp>
      <p:sp>
        <p:nvSpPr>
          <p:cNvPr id="9" name="step Explore"/>
          <p:cNvSpPr/>
          <p:nvPr/>
        </p:nvSpPr>
        <p:spPr>
          <a:xfrm>
            <a:off x="4023360" y="1143000"/>
            <a:ext cx="1143000" cy="731520"/>
          </a:xfrm>
          <a:prstGeom prst="homePlate">
            <a:avLst/>
          </a:prstGeom>
          <a:solidFill>
            <a:schemeClr val="accent1"/>
          </a:solidFill>
          <a:ln w="12700">
            <a:solidFill>
              <a:schemeClr val="bg1"/>
            </a:solidFill>
            <a:prstDash val="solid"/>
          </a:ln>
        </p:spPr>
        <p:txBody>
          <a:bodyPr/>
          <a:lstStyle/>
          <a:p>
            <a:endParaRPr lang="en-US"/>
          </a:p>
        </p:txBody>
      </p:sp>
      <p:sp>
        <p:nvSpPr>
          <p:cNvPr id="10" name="Text 8"/>
          <p:cNvSpPr txBox="1"/>
          <p:nvPr/>
        </p:nvSpPr>
        <p:spPr>
          <a:xfrm>
            <a:off x="4069080" y="1143000"/>
            <a:ext cx="914400" cy="731520"/>
          </a:xfrm>
          <a:prstGeom prst="rect">
            <a:avLst/>
          </a:prstGeom>
          <a:noFill/>
          <a:ln/>
        </p:spPr>
        <p:txBody>
          <a:bodyPr wrap="square" lIns="0" tIns="0" rIns="0" bIns="0" rtlCol="0" anchor="ctr"/>
          <a:lstStyle/>
          <a:p>
            <a:pPr marL="0" indent="0" algn="ctr">
              <a:buNone/>
            </a:pPr>
            <a:r>
              <a:rPr lang="en-US" sz="1400" b="1" dirty="0">
                <a:solidFill>
                  <a:schemeClr val="bg1"/>
                </a:solidFill>
              </a:rPr>
              <a:t>Explore</a:t>
            </a:r>
            <a:endParaRPr lang="en-US" sz="1400" dirty="0"/>
          </a:p>
        </p:txBody>
      </p:sp>
      <p:sp>
        <p:nvSpPr>
          <p:cNvPr id="11" name="step Model"/>
          <p:cNvSpPr/>
          <p:nvPr/>
        </p:nvSpPr>
        <p:spPr>
          <a:xfrm>
            <a:off x="5212080" y="1143000"/>
            <a:ext cx="1143000" cy="731520"/>
          </a:xfrm>
          <a:prstGeom prst="homePlate">
            <a:avLst/>
          </a:prstGeom>
          <a:solidFill>
            <a:schemeClr val="accent1"/>
          </a:solidFill>
          <a:ln w="12700">
            <a:solidFill>
              <a:schemeClr val="bg1"/>
            </a:solidFill>
            <a:prstDash val="solid"/>
          </a:ln>
        </p:spPr>
        <p:txBody>
          <a:bodyPr/>
          <a:lstStyle/>
          <a:p>
            <a:endParaRPr lang="en-US"/>
          </a:p>
        </p:txBody>
      </p:sp>
      <p:sp>
        <p:nvSpPr>
          <p:cNvPr id="12" name="Text 10"/>
          <p:cNvSpPr txBox="1"/>
          <p:nvPr/>
        </p:nvSpPr>
        <p:spPr>
          <a:xfrm>
            <a:off x="5257800" y="1143000"/>
            <a:ext cx="914400" cy="731520"/>
          </a:xfrm>
          <a:prstGeom prst="rect">
            <a:avLst/>
          </a:prstGeom>
          <a:noFill/>
          <a:ln/>
        </p:spPr>
        <p:txBody>
          <a:bodyPr wrap="square" lIns="0" tIns="0" rIns="0" bIns="0" rtlCol="0" anchor="ctr"/>
          <a:lstStyle/>
          <a:p>
            <a:pPr marL="0" indent="0" algn="ctr">
              <a:buNone/>
            </a:pPr>
            <a:r>
              <a:rPr lang="en-US" sz="1400" b="1" dirty="0">
                <a:solidFill>
                  <a:schemeClr val="bg1"/>
                </a:solidFill>
              </a:rPr>
              <a:t>Model</a:t>
            </a:r>
            <a:endParaRPr lang="en-US" sz="1400" dirty="0"/>
          </a:p>
        </p:txBody>
      </p:sp>
      <p:sp>
        <p:nvSpPr>
          <p:cNvPr id="13" name="step Evaluate"/>
          <p:cNvSpPr/>
          <p:nvPr/>
        </p:nvSpPr>
        <p:spPr>
          <a:xfrm>
            <a:off x="6400800" y="1143000"/>
            <a:ext cx="1143000" cy="731520"/>
          </a:xfrm>
          <a:prstGeom prst="homePlate">
            <a:avLst/>
          </a:prstGeom>
          <a:solidFill>
            <a:schemeClr val="accent1"/>
          </a:solidFill>
          <a:ln w="12700">
            <a:solidFill>
              <a:schemeClr val="bg1"/>
            </a:solidFill>
            <a:prstDash val="solid"/>
          </a:ln>
        </p:spPr>
        <p:txBody>
          <a:bodyPr/>
          <a:lstStyle/>
          <a:p>
            <a:endParaRPr lang="en-US"/>
          </a:p>
        </p:txBody>
      </p:sp>
      <p:sp>
        <p:nvSpPr>
          <p:cNvPr id="14" name="Text 12"/>
          <p:cNvSpPr txBox="1"/>
          <p:nvPr/>
        </p:nvSpPr>
        <p:spPr>
          <a:xfrm>
            <a:off x="6446520" y="1143000"/>
            <a:ext cx="914400" cy="731520"/>
          </a:xfrm>
          <a:prstGeom prst="rect">
            <a:avLst/>
          </a:prstGeom>
          <a:noFill/>
          <a:ln/>
        </p:spPr>
        <p:txBody>
          <a:bodyPr wrap="square" lIns="0" tIns="0" rIns="0" bIns="0" rtlCol="0" anchor="ctr"/>
          <a:lstStyle/>
          <a:p>
            <a:pPr marL="0" indent="0" algn="ctr">
              <a:buNone/>
            </a:pPr>
            <a:r>
              <a:rPr lang="en-US" sz="1400" b="1" dirty="0">
                <a:solidFill>
                  <a:schemeClr val="bg1"/>
                </a:solidFill>
              </a:rPr>
              <a:t>Evaluate</a:t>
            </a:r>
            <a:endParaRPr lang="en-US" sz="1400" dirty="0"/>
          </a:p>
        </p:txBody>
      </p:sp>
      <p:sp>
        <p:nvSpPr>
          <p:cNvPr id="15" name="step Deploy"/>
          <p:cNvSpPr/>
          <p:nvPr/>
        </p:nvSpPr>
        <p:spPr>
          <a:xfrm>
            <a:off x="7589520" y="1143000"/>
            <a:ext cx="1143000" cy="731520"/>
          </a:xfrm>
          <a:prstGeom prst="homePlate">
            <a:avLst/>
          </a:prstGeom>
          <a:solidFill>
            <a:schemeClr val="accent1"/>
          </a:solidFill>
          <a:ln w="12700">
            <a:solidFill>
              <a:schemeClr val="bg1"/>
            </a:solidFill>
            <a:prstDash val="solid"/>
          </a:ln>
        </p:spPr>
        <p:txBody>
          <a:bodyPr/>
          <a:lstStyle/>
          <a:p>
            <a:endParaRPr lang="en-US"/>
          </a:p>
        </p:txBody>
      </p:sp>
      <p:sp>
        <p:nvSpPr>
          <p:cNvPr id="16" name="Text 14"/>
          <p:cNvSpPr txBox="1"/>
          <p:nvPr/>
        </p:nvSpPr>
        <p:spPr>
          <a:xfrm>
            <a:off x="7635240" y="1143000"/>
            <a:ext cx="914400" cy="731520"/>
          </a:xfrm>
          <a:prstGeom prst="rect">
            <a:avLst/>
          </a:prstGeom>
          <a:noFill/>
          <a:ln/>
        </p:spPr>
        <p:txBody>
          <a:bodyPr wrap="square" lIns="0" tIns="0" rIns="0" bIns="0" rtlCol="0" anchor="ctr"/>
          <a:lstStyle/>
          <a:p>
            <a:pPr marL="0" indent="0" algn="ctr">
              <a:buNone/>
            </a:pPr>
            <a:r>
              <a:rPr lang="en-US" sz="1400" b="1" dirty="0">
                <a:solidFill>
                  <a:schemeClr val="bg1"/>
                </a:solidFill>
              </a:rPr>
              <a:t>Deploy</a:t>
            </a:r>
            <a:endParaRPr lang="en-US" sz="1400" dirty="0"/>
          </a:p>
        </p:txBody>
      </p:sp>
      <p:sp>
        <p:nvSpPr>
          <p:cNvPr id="17" name="callout 1"/>
          <p:cNvSpPr/>
          <p:nvPr/>
        </p:nvSpPr>
        <p:spPr>
          <a:xfrm>
            <a:off x="457200" y="2240280"/>
            <a:ext cx="1965960" cy="2103120"/>
          </a:xfrm>
          <a:prstGeom prst="roundRect">
            <a:avLst>
              <a:gd name="adj" fmla="val 4651"/>
            </a:avLst>
          </a:prstGeom>
          <a:solidFill>
            <a:schemeClr val="bg2"/>
          </a:solidFill>
          <a:ln w="12700">
            <a:solidFill>
              <a:schemeClr val="bg2"/>
            </a:solidFill>
            <a:prstDash val="solid"/>
          </a:ln>
          <a:effectLst>
            <a:outerShdw blurRad="101600" dist="25400" dir="5400000" algn="bl" rotWithShape="0">
              <a:srgbClr val="000000">
                <a:alpha val="14000"/>
              </a:srgbClr>
            </a:outerShdw>
          </a:effectLst>
        </p:spPr>
        <p:txBody>
          <a:bodyPr/>
          <a:lstStyle/>
          <a:p>
            <a:endParaRPr lang="en-US"/>
          </a:p>
        </p:txBody>
      </p:sp>
      <p:sp>
        <p:nvSpPr>
          <p:cNvPr id="18" name="Text 16"/>
          <p:cNvSpPr txBox="1"/>
          <p:nvPr/>
        </p:nvSpPr>
        <p:spPr>
          <a:xfrm>
            <a:off x="594360" y="2331720"/>
            <a:ext cx="1691640" cy="685800"/>
          </a:xfrm>
          <a:prstGeom prst="rect">
            <a:avLst/>
          </a:prstGeom>
          <a:noFill/>
          <a:ln/>
        </p:spPr>
        <p:txBody>
          <a:bodyPr wrap="square" lIns="0" tIns="0" rIns="0" bIns="0" rtlCol="0" anchor="ctr"/>
          <a:lstStyle/>
          <a:p>
            <a:pPr marL="0" indent="0">
              <a:buNone/>
            </a:pPr>
            <a:r>
              <a:rPr lang="en-US" sz="4000" b="1" dirty="0">
                <a:solidFill>
                  <a:schemeClr val="accent1"/>
                </a:solidFill>
              </a:rPr>
              <a:t>1</a:t>
            </a:r>
            <a:endParaRPr lang="en-US" sz="4000" dirty="0"/>
          </a:p>
        </p:txBody>
      </p:sp>
      <p:sp>
        <p:nvSpPr>
          <p:cNvPr id="19" name="Text 17"/>
          <p:cNvSpPr txBox="1"/>
          <p:nvPr/>
        </p:nvSpPr>
        <p:spPr>
          <a:xfrm>
            <a:off x="594360" y="3063240"/>
            <a:ext cx="1691640" cy="1234440"/>
          </a:xfrm>
          <a:prstGeom prst="rect">
            <a:avLst/>
          </a:prstGeom>
          <a:noFill/>
          <a:ln/>
        </p:spPr>
        <p:txBody>
          <a:bodyPr wrap="square" lIns="0" tIns="0" rIns="0" bIns="0" rtlCol="0" anchor="t"/>
          <a:lstStyle/>
          <a:p>
            <a:pPr marL="0" indent="0">
              <a:buNone/>
            </a:pPr>
            <a:r>
              <a:rPr lang="en-US" sz="1400" dirty="0">
                <a:solidFill>
                  <a:schemeClr val="tx1"/>
                </a:solidFill>
              </a:rPr>
              <a:t>hidden header row inside the data made every number column read as text</a:t>
            </a:r>
            <a:endParaRPr lang="en-US" sz="1400" dirty="0"/>
          </a:p>
        </p:txBody>
      </p:sp>
      <p:sp>
        <p:nvSpPr>
          <p:cNvPr id="20" name="callout 2"/>
          <p:cNvSpPr/>
          <p:nvPr/>
        </p:nvSpPr>
        <p:spPr>
          <a:xfrm>
            <a:off x="2542032" y="2240280"/>
            <a:ext cx="1965960" cy="2103120"/>
          </a:xfrm>
          <a:prstGeom prst="roundRect">
            <a:avLst>
              <a:gd name="adj" fmla="val 4651"/>
            </a:avLst>
          </a:prstGeom>
          <a:solidFill>
            <a:schemeClr val="bg2"/>
          </a:solidFill>
          <a:ln w="12700">
            <a:solidFill>
              <a:schemeClr val="bg2"/>
            </a:solidFill>
            <a:prstDash val="solid"/>
          </a:ln>
          <a:effectLst>
            <a:outerShdw blurRad="101600" dist="25400" dir="5400000" algn="bl" rotWithShape="0">
              <a:srgbClr val="000000">
                <a:alpha val="14000"/>
              </a:srgbClr>
            </a:outerShdw>
          </a:effectLst>
        </p:spPr>
        <p:txBody>
          <a:bodyPr/>
          <a:lstStyle/>
          <a:p>
            <a:endParaRPr lang="en-US"/>
          </a:p>
        </p:txBody>
      </p:sp>
      <p:sp>
        <p:nvSpPr>
          <p:cNvPr id="21" name="Text 19"/>
          <p:cNvSpPr txBox="1"/>
          <p:nvPr/>
        </p:nvSpPr>
        <p:spPr>
          <a:xfrm>
            <a:off x="2679192" y="2331720"/>
            <a:ext cx="1691640" cy="685800"/>
          </a:xfrm>
          <a:prstGeom prst="rect">
            <a:avLst/>
          </a:prstGeom>
          <a:noFill/>
          <a:ln/>
        </p:spPr>
        <p:txBody>
          <a:bodyPr wrap="square" lIns="0" tIns="0" rIns="0" bIns="0" rtlCol="0" anchor="ctr"/>
          <a:lstStyle/>
          <a:p>
            <a:pPr marL="0" indent="0">
              <a:buNone/>
            </a:pPr>
            <a:r>
              <a:rPr lang="en-US" sz="4000" b="1" dirty="0">
                <a:solidFill>
                  <a:schemeClr val="accent1"/>
                </a:solidFill>
              </a:rPr>
              <a:t>2</a:t>
            </a:r>
            <a:endParaRPr lang="en-US" sz="4000" dirty="0"/>
          </a:p>
        </p:txBody>
      </p:sp>
      <p:sp>
        <p:nvSpPr>
          <p:cNvPr id="22" name="Text 20"/>
          <p:cNvSpPr txBox="1"/>
          <p:nvPr/>
        </p:nvSpPr>
        <p:spPr>
          <a:xfrm>
            <a:off x="2679192" y="3063240"/>
            <a:ext cx="1691640" cy="1234440"/>
          </a:xfrm>
          <a:prstGeom prst="rect">
            <a:avLst/>
          </a:prstGeom>
          <a:noFill/>
          <a:ln/>
        </p:spPr>
        <p:txBody>
          <a:bodyPr wrap="square" lIns="0" tIns="0" rIns="0" bIns="0" rtlCol="0" anchor="t"/>
          <a:lstStyle/>
          <a:p>
            <a:pPr marL="0" indent="0">
              <a:buNone/>
            </a:pPr>
            <a:r>
              <a:rPr lang="en-US" sz="1400" dirty="0">
                <a:solidFill>
                  <a:schemeClr val="tx1"/>
                </a:solidFill>
              </a:rPr>
              <a:t>empty rows and 2 constant columns removed</a:t>
            </a:r>
            <a:endParaRPr lang="en-US" sz="1400" dirty="0"/>
          </a:p>
        </p:txBody>
      </p:sp>
      <p:sp>
        <p:nvSpPr>
          <p:cNvPr id="23" name="callout 3"/>
          <p:cNvSpPr/>
          <p:nvPr/>
        </p:nvSpPr>
        <p:spPr>
          <a:xfrm>
            <a:off x="4626864" y="2240280"/>
            <a:ext cx="1965960" cy="2103120"/>
          </a:xfrm>
          <a:prstGeom prst="roundRect">
            <a:avLst>
              <a:gd name="adj" fmla="val 4651"/>
            </a:avLst>
          </a:prstGeom>
          <a:solidFill>
            <a:schemeClr val="bg2"/>
          </a:solidFill>
          <a:ln w="12700">
            <a:solidFill>
              <a:schemeClr val="bg2"/>
            </a:solidFill>
            <a:prstDash val="solid"/>
          </a:ln>
          <a:effectLst>
            <a:outerShdw blurRad="101600" dist="25400" dir="5400000" algn="bl" rotWithShape="0">
              <a:srgbClr val="000000">
                <a:alpha val="14000"/>
              </a:srgbClr>
            </a:outerShdw>
          </a:effectLst>
        </p:spPr>
        <p:txBody>
          <a:bodyPr/>
          <a:lstStyle/>
          <a:p>
            <a:endParaRPr lang="en-US"/>
          </a:p>
        </p:txBody>
      </p:sp>
      <p:sp>
        <p:nvSpPr>
          <p:cNvPr id="24" name="Text 22"/>
          <p:cNvSpPr txBox="1"/>
          <p:nvPr/>
        </p:nvSpPr>
        <p:spPr>
          <a:xfrm>
            <a:off x="4764024" y="2331720"/>
            <a:ext cx="1691640" cy="685800"/>
          </a:xfrm>
          <a:prstGeom prst="rect">
            <a:avLst/>
          </a:prstGeom>
          <a:noFill/>
          <a:ln/>
        </p:spPr>
        <p:txBody>
          <a:bodyPr wrap="square" lIns="0" tIns="0" rIns="0" bIns="0" rtlCol="0" anchor="ctr"/>
          <a:lstStyle/>
          <a:p>
            <a:pPr marL="0" indent="0">
              <a:buNone/>
            </a:pPr>
            <a:r>
              <a:rPr lang="en-US" sz="4000" b="1" dirty="0">
                <a:solidFill>
                  <a:schemeClr val="accent1"/>
                </a:solidFill>
              </a:rPr>
              <a:t>21</a:t>
            </a:r>
            <a:endParaRPr lang="en-US" sz="4000" dirty="0"/>
          </a:p>
        </p:txBody>
      </p:sp>
      <p:sp>
        <p:nvSpPr>
          <p:cNvPr id="25" name="Text 23"/>
          <p:cNvSpPr txBox="1"/>
          <p:nvPr/>
        </p:nvSpPr>
        <p:spPr>
          <a:xfrm>
            <a:off x="4764024" y="3063240"/>
            <a:ext cx="1691640" cy="1234440"/>
          </a:xfrm>
          <a:prstGeom prst="rect">
            <a:avLst/>
          </a:prstGeom>
          <a:noFill/>
          <a:ln/>
        </p:spPr>
        <p:txBody>
          <a:bodyPr wrap="square" lIns="0" tIns="0" rIns="0" bIns="0" rtlCol="0" anchor="t"/>
          <a:lstStyle/>
          <a:p>
            <a:pPr marL="0" indent="0">
              <a:buNone/>
            </a:pPr>
            <a:r>
              <a:rPr lang="en-US" sz="1400" dirty="0">
                <a:solidFill>
                  <a:schemeClr val="tx1"/>
                </a:solidFill>
              </a:rPr>
              <a:t>redundant sensors dropped (correlation &gt; 0.98): 61 features left</a:t>
            </a:r>
            <a:endParaRPr lang="en-US" sz="1400" dirty="0"/>
          </a:p>
        </p:txBody>
      </p:sp>
      <p:sp>
        <p:nvSpPr>
          <p:cNvPr id="26" name="callout 4"/>
          <p:cNvSpPr/>
          <p:nvPr/>
        </p:nvSpPr>
        <p:spPr>
          <a:xfrm>
            <a:off x="6711696" y="2240280"/>
            <a:ext cx="1965960" cy="2103120"/>
          </a:xfrm>
          <a:prstGeom prst="roundRect">
            <a:avLst>
              <a:gd name="adj" fmla="val 4651"/>
            </a:avLst>
          </a:prstGeom>
          <a:solidFill>
            <a:schemeClr val="bg2"/>
          </a:solidFill>
          <a:ln w="12700">
            <a:solidFill>
              <a:schemeClr val="bg2"/>
            </a:solidFill>
            <a:prstDash val="solid"/>
          </a:ln>
          <a:effectLst>
            <a:outerShdw blurRad="101600" dist="25400" dir="5400000" algn="bl" rotWithShape="0">
              <a:srgbClr val="000000">
                <a:alpha val="14000"/>
              </a:srgbClr>
            </a:outerShdw>
          </a:effectLst>
        </p:spPr>
        <p:txBody>
          <a:bodyPr/>
          <a:lstStyle/>
          <a:p>
            <a:endParaRPr lang="en-US"/>
          </a:p>
        </p:txBody>
      </p:sp>
      <p:sp>
        <p:nvSpPr>
          <p:cNvPr id="27" name="Text 25"/>
          <p:cNvSpPr txBox="1"/>
          <p:nvPr/>
        </p:nvSpPr>
        <p:spPr>
          <a:xfrm>
            <a:off x="6848856" y="2331720"/>
            <a:ext cx="1691640" cy="685800"/>
          </a:xfrm>
          <a:prstGeom prst="rect">
            <a:avLst/>
          </a:prstGeom>
          <a:noFill/>
          <a:ln/>
        </p:spPr>
        <p:txBody>
          <a:bodyPr wrap="square" lIns="0" tIns="0" rIns="0" bIns="0" rtlCol="0" anchor="ctr"/>
          <a:lstStyle/>
          <a:p>
            <a:pPr marL="0" indent="0">
              <a:buNone/>
            </a:pPr>
            <a:r>
              <a:rPr lang="en-US" sz="3000" b="1" dirty="0">
                <a:solidFill>
                  <a:schemeClr val="accent1"/>
                </a:solidFill>
              </a:rPr>
              <a:t>154,132</a:t>
            </a:r>
            <a:endParaRPr lang="en-US" sz="3000" dirty="0"/>
          </a:p>
        </p:txBody>
      </p:sp>
      <p:sp>
        <p:nvSpPr>
          <p:cNvPr id="28" name="Text 26"/>
          <p:cNvSpPr txBox="1"/>
          <p:nvPr/>
        </p:nvSpPr>
        <p:spPr>
          <a:xfrm>
            <a:off x="6848856" y="3063240"/>
            <a:ext cx="1691640" cy="1234440"/>
          </a:xfrm>
          <a:prstGeom prst="rect">
            <a:avLst/>
          </a:prstGeom>
          <a:noFill/>
          <a:ln/>
        </p:spPr>
        <p:txBody>
          <a:bodyPr wrap="square" lIns="0" tIns="0" rIns="0" bIns="0" rtlCol="0" anchor="t"/>
          <a:lstStyle/>
          <a:p>
            <a:pPr marL="0" indent="0">
              <a:buNone/>
            </a:pPr>
            <a:r>
              <a:rPr lang="en-US" sz="1400" dirty="0">
                <a:solidFill>
                  <a:schemeClr val="tx1"/>
                </a:solidFill>
              </a:rPr>
              <a:t>training rows; 6,505 hold-out rows from the dataset's own split</a:t>
            </a:r>
            <a:endParaRPr lang="en-US" sz="14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Methodology (2): what the data tells us</a:t>
            </a:r>
            <a:endParaRPr lang="en-US" sz="3000" dirty="0"/>
          </a:p>
        </p:txBody>
      </p:sp>
      <p:sp>
        <p:nvSpPr>
          <p:cNvPr id="3" name="power curve chart frame"/>
          <p:cNvSpPr/>
          <p:nvPr/>
        </p:nvSpPr>
        <p:spPr>
          <a:xfrm>
            <a:off x="466344" y="1152144"/>
            <a:ext cx="4462272" cy="2775451"/>
          </a:xfrm>
          <a:prstGeom prst="rect">
            <a:avLst/>
          </a:prstGeom>
          <a:solidFill>
            <a:schemeClr val="bg1"/>
          </a:solidFill>
          <a:ln w="9525">
            <a:solidFill>
              <a:srgbClr val="6C8CA0"/>
            </a:solidFill>
            <a:prstDash val="solid"/>
          </a:ln>
          <a:effectLst>
            <a:outerShdw blurRad="101600" dist="25400" dir="5400000" algn="bl" rotWithShape="0">
              <a:srgbClr val="000000">
                <a:alpha val="14000"/>
              </a:srgbClr>
            </a:outerShdw>
          </a:effectLst>
        </p:spPr>
        <p:txBody>
          <a:bodyPr/>
          <a:lstStyle/>
          <a:p>
            <a:endParaRPr lang="en-US"/>
          </a:p>
        </p:txBody>
      </p:sp>
      <p:pic>
        <p:nvPicPr>
          <p:cNvPr id="4" name="power curve chart" descr="power curve chart"/>
          <p:cNvPicPr>
            <a:picLocks noChangeAspect="1"/>
          </p:cNvPicPr>
          <p:nvPr/>
        </p:nvPicPr>
        <p:blipFill>
          <a:blip r:embed="rId3"/>
          <a:stretch>
            <a:fillRect/>
          </a:stretch>
        </p:blipFill>
        <p:spPr>
          <a:xfrm>
            <a:off x="502920" y="1188720"/>
            <a:ext cx="4389120" cy="2702299"/>
          </a:xfrm>
          <a:prstGeom prst="rect">
            <a:avLst/>
          </a:prstGeom>
        </p:spPr>
      </p:pic>
      <p:sp>
        <p:nvSpPr>
          <p:cNvPr id="5" name="Text 2"/>
          <p:cNvSpPr txBox="1"/>
          <p:nvPr/>
        </p:nvSpPr>
        <p:spPr>
          <a:xfrm>
            <a:off x="502920" y="4000747"/>
            <a:ext cx="4389120" cy="274320"/>
          </a:xfrm>
          <a:prstGeom prst="rect">
            <a:avLst/>
          </a:prstGeom>
          <a:noFill/>
          <a:ln/>
        </p:spPr>
        <p:txBody>
          <a:bodyPr wrap="square" lIns="0" tIns="0" rIns="0" bIns="0" rtlCol="0" anchor="t"/>
          <a:lstStyle/>
          <a:p>
            <a:pPr marL="0" indent="0">
              <a:buNone/>
            </a:pPr>
            <a:r>
              <a:rPr lang="en-US" sz="1200" i="1" dirty="0">
                <a:solidFill>
                  <a:schemeClr val="accent6"/>
                </a:solidFill>
              </a:rPr>
              <a:t>Wind speed vs. power, coloured by status</a:t>
            </a:r>
            <a:endParaRPr lang="en-US" sz="1200" dirty="0"/>
          </a:p>
        </p:txBody>
      </p:sp>
      <p:sp>
        <p:nvSpPr>
          <p:cNvPr id="6" name="Text 3"/>
          <p:cNvSpPr txBox="1"/>
          <p:nvPr/>
        </p:nvSpPr>
        <p:spPr>
          <a:xfrm>
            <a:off x="5257800" y="1097280"/>
            <a:ext cx="3383280" cy="777240"/>
          </a:xfrm>
          <a:prstGeom prst="rect">
            <a:avLst/>
          </a:prstGeom>
          <a:noFill/>
          <a:ln/>
        </p:spPr>
        <p:txBody>
          <a:bodyPr wrap="square" lIns="0" tIns="0" rIns="0" bIns="0" rtlCol="0" anchor="ctr"/>
          <a:lstStyle/>
          <a:p>
            <a:pPr marL="0" indent="0">
              <a:buNone/>
            </a:pPr>
            <a:r>
              <a:rPr lang="en-US" sz="5400" b="1" dirty="0">
                <a:solidFill>
                  <a:schemeClr val="accent1"/>
                </a:solidFill>
              </a:rPr>
              <a:t>50.1%</a:t>
            </a:r>
            <a:endParaRPr lang="en-US" sz="5400" dirty="0"/>
          </a:p>
        </p:txBody>
      </p:sp>
      <p:sp>
        <p:nvSpPr>
          <p:cNvPr id="7" name="Text 4"/>
          <p:cNvSpPr txBox="1"/>
          <p:nvPr/>
        </p:nvSpPr>
        <p:spPr>
          <a:xfrm>
            <a:off x="5257800" y="1920240"/>
            <a:ext cx="3383280" cy="640080"/>
          </a:xfrm>
          <a:prstGeom prst="rect">
            <a:avLst/>
          </a:prstGeom>
          <a:noFill/>
          <a:ln/>
        </p:spPr>
        <p:txBody>
          <a:bodyPr wrap="square" lIns="0" tIns="0" rIns="0" bIns="0" rtlCol="0" anchor="t"/>
          <a:lstStyle/>
          <a:p>
            <a:pPr marL="0" indent="0">
              <a:buNone/>
            </a:pPr>
            <a:r>
              <a:rPr lang="en-US" sz="1500" b="1" dirty="0">
                <a:solidFill>
                  <a:schemeClr val="tx1"/>
                </a:solidFill>
              </a:rPr>
              <a:t>of readings below 4 m/s are status 5 (only 2.9% at 8 m/s or more)</a:t>
            </a:r>
            <a:endParaRPr lang="en-US" sz="1500" dirty="0"/>
          </a:p>
        </p:txBody>
      </p:sp>
      <p:sp>
        <p:nvSpPr>
          <p:cNvPr id="8" name="Text 5"/>
          <p:cNvSpPr txBox="1"/>
          <p:nvPr/>
        </p:nvSpPr>
        <p:spPr>
          <a:xfrm>
            <a:off x="5257800" y="2697480"/>
            <a:ext cx="342900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Status 3 overlaps normal operation, so it is the hardest class</a:t>
            </a:r>
            <a:endParaRPr lang="en-US" sz="1400" dirty="0"/>
          </a:p>
          <a:p>
            <a:pPr marL="342900" indent="-342900">
              <a:spcAft>
                <a:spcPts val="600"/>
              </a:spcAft>
              <a:buSzPct val="100000"/>
              <a:buChar char="•"/>
            </a:pPr>
            <a:r>
              <a:rPr lang="en-US" sz="1400" dirty="0">
                <a:solidFill>
                  <a:schemeClr val="tx1"/>
                </a:solidFill>
              </a:rPr>
              <a:t>Status 5 follows the night and early-morning wind pattern</a:t>
            </a:r>
            <a:endParaRPr lang="en-US" sz="1400" dirty="0"/>
          </a:p>
          <a:p>
            <a:pPr marL="342900" indent="-342900">
              <a:buSzPct val="100000"/>
              <a:buChar char="•"/>
            </a:pPr>
            <a:r>
              <a:rPr lang="en-US" sz="1400" dirty="0">
                <a:solidFill>
                  <a:schemeClr val="tx1"/>
                </a:solidFill>
              </a:rPr>
              <a:t>8 charts: class balance, time, power curve, box-plots, density, hour, correlations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Methodology (3): four models, one fair test</a:t>
            </a:r>
            <a:endParaRPr lang="en-US" sz="3000" dirty="0"/>
          </a:p>
        </p:txBody>
      </p:sp>
      <p:graphicFrame>
        <p:nvGraphicFramePr>
          <p:cNvPr id="3" name="Chart 0"/>
          <p:cNvGraphicFramePr/>
          <p:nvPr/>
        </p:nvGraphicFramePr>
        <p:xfrm>
          <a:off x="365760" y="1051560"/>
          <a:ext cx="475488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4" name="confusion matrix frame"/>
          <p:cNvSpPr/>
          <p:nvPr/>
        </p:nvSpPr>
        <p:spPr>
          <a:xfrm>
            <a:off x="5266944" y="1152144"/>
            <a:ext cx="3456432" cy="1478265"/>
          </a:xfrm>
          <a:prstGeom prst="rect">
            <a:avLst/>
          </a:prstGeom>
          <a:solidFill>
            <a:schemeClr val="bg1"/>
          </a:solidFill>
          <a:ln w="9525">
            <a:solidFill>
              <a:srgbClr val="6C8CA0"/>
            </a:solidFill>
            <a:prstDash val="solid"/>
          </a:ln>
          <a:effectLst>
            <a:outerShdw blurRad="101600" dist="25400" dir="5400000" algn="bl" rotWithShape="0">
              <a:srgbClr val="000000">
                <a:alpha val="14000"/>
              </a:srgbClr>
            </a:outerShdw>
          </a:effectLst>
        </p:spPr>
        <p:txBody>
          <a:bodyPr/>
          <a:lstStyle/>
          <a:p>
            <a:endParaRPr lang="en-US"/>
          </a:p>
        </p:txBody>
      </p:sp>
      <p:pic>
        <p:nvPicPr>
          <p:cNvPr id="5" name="confusion matrix" descr="confusion matrix"/>
          <p:cNvPicPr>
            <a:picLocks noChangeAspect="1"/>
          </p:cNvPicPr>
          <p:nvPr/>
        </p:nvPicPr>
        <p:blipFill>
          <a:blip r:embed="rId4"/>
          <a:stretch>
            <a:fillRect/>
          </a:stretch>
        </p:blipFill>
        <p:spPr>
          <a:xfrm>
            <a:off x="5303520" y="1188720"/>
            <a:ext cx="3383280" cy="1405113"/>
          </a:xfrm>
          <a:prstGeom prst="rect">
            <a:avLst/>
          </a:prstGeom>
        </p:spPr>
      </p:pic>
      <p:sp>
        <p:nvSpPr>
          <p:cNvPr id="6" name="Text 2"/>
          <p:cNvSpPr txBox="1"/>
          <p:nvPr/>
        </p:nvSpPr>
        <p:spPr>
          <a:xfrm>
            <a:off x="5303520" y="2697480"/>
            <a:ext cx="3383280" cy="228600"/>
          </a:xfrm>
          <a:prstGeom prst="rect">
            <a:avLst/>
          </a:prstGeom>
          <a:noFill/>
          <a:ln/>
        </p:spPr>
        <p:txBody>
          <a:bodyPr wrap="square" lIns="0" tIns="0" rIns="0" bIns="0" rtlCol="0" anchor="t"/>
          <a:lstStyle/>
          <a:p>
            <a:pPr marL="0" indent="0">
              <a:buNone/>
            </a:pPr>
            <a:r>
              <a:rPr lang="en-US" sz="1100" i="1" dirty="0">
                <a:solidFill>
                  <a:schemeClr val="accent6"/>
                </a:solidFill>
              </a:rPr>
              <a:t>Logistic Regression: confusion matrix</a:t>
            </a:r>
            <a:endParaRPr lang="en-US" sz="1100" dirty="0"/>
          </a:p>
        </p:txBody>
      </p:sp>
      <p:sp>
        <p:nvSpPr>
          <p:cNvPr id="7" name="selected model card"/>
          <p:cNvSpPr/>
          <p:nvPr/>
        </p:nvSpPr>
        <p:spPr>
          <a:xfrm>
            <a:off x="5303520" y="3017520"/>
            <a:ext cx="3383280" cy="731520"/>
          </a:xfrm>
          <a:prstGeom prst="roundRect">
            <a:avLst>
              <a:gd name="adj" fmla="val 10000"/>
            </a:avLst>
          </a:prstGeom>
          <a:solidFill>
            <a:schemeClr val="accent1"/>
          </a:solidFill>
          <a:ln w="12700">
            <a:solidFill>
              <a:schemeClr val="accent1"/>
            </a:solidFill>
            <a:prstDash val="solid"/>
          </a:ln>
          <a:effectLst>
            <a:outerShdw blurRad="101600" dist="25400" dir="5400000" algn="bl" rotWithShape="0">
              <a:srgbClr val="000000">
                <a:alpha val="14000"/>
              </a:srgbClr>
            </a:outerShdw>
          </a:effectLst>
        </p:spPr>
        <p:txBody>
          <a:bodyPr/>
          <a:lstStyle/>
          <a:p>
            <a:endParaRPr lang="en-US"/>
          </a:p>
        </p:txBody>
      </p:sp>
      <p:sp>
        <p:nvSpPr>
          <p:cNvPr id="8" name="Text 4"/>
          <p:cNvSpPr txBox="1"/>
          <p:nvPr/>
        </p:nvSpPr>
        <p:spPr>
          <a:xfrm>
            <a:off x="5440680" y="3072384"/>
            <a:ext cx="3154680" cy="274320"/>
          </a:xfrm>
          <a:prstGeom prst="rect">
            <a:avLst/>
          </a:prstGeom>
          <a:noFill/>
          <a:ln/>
        </p:spPr>
        <p:txBody>
          <a:bodyPr wrap="square" lIns="0" tIns="0" rIns="0" bIns="0" rtlCol="0" anchor="t"/>
          <a:lstStyle/>
          <a:p>
            <a:pPr marL="0" indent="0">
              <a:buNone/>
            </a:pPr>
            <a:r>
              <a:rPr lang="en-US" sz="1400" b="1" dirty="0">
                <a:solidFill>
                  <a:schemeClr val="bg1"/>
                </a:solidFill>
              </a:rPr>
              <a:t>Selected: Logistic Regression</a:t>
            </a:r>
            <a:endParaRPr lang="en-US" sz="1400" dirty="0"/>
          </a:p>
        </p:txBody>
      </p:sp>
      <p:sp>
        <p:nvSpPr>
          <p:cNvPr id="9" name="Text 5"/>
          <p:cNvSpPr txBox="1"/>
          <p:nvPr/>
        </p:nvSpPr>
        <p:spPr>
          <a:xfrm>
            <a:off x="5440680" y="3364992"/>
            <a:ext cx="3154680" cy="320040"/>
          </a:xfrm>
          <a:prstGeom prst="rect">
            <a:avLst/>
          </a:prstGeom>
          <a:noFill/>
          <a:ln/>
        </p:spPr>
        <p:txBody>
          <a:bodyPr wrap="square" lIns="0" tIns="0" rIns="0" bIns="0" rtlCol="0" anchor="t"/>
          <a:lstStyle/>
          <a:p>
            <a:pPr marL="0" indent="0">
              <a:buNone/>
            </a:pPr>
            <a:r>
              <a:rPr lang="en-US" sz="1200" dirty="0">
                <a:solidFill>
                  <a:schemeClr val="bg1"/>
                </a:solidFill>
              </a:rPr>
              <a:t>macro-F1 0.654 · recall 0.82 · no overfitting</a:t>
            </a:r>
            <a:endParaRPr lang="en-US" sz="1200" dirty="0"/>
          </a:p>
        </p:txBody>
      </p:sp>
      <p:sp>
        <p:nvSpPr>
          <p:cNvPr id="10" name="trees card"/>
          <p:cNvSpPr/>
          <p:nvPr/>
        </p:nvSpPr>
        <p:spPr>
          <a:xfrm>
            <a:off x="5303520" y="3840480"/>
            <a:ext cx="3383280" cy="777240"/>
          </a:xfrm>
          <a:prstGeom prst="roundRect">
            <a:avLst>
              <a:gd name="adj" fmla="val 9412"/>
            </a:avLst>
          </a:prstGeom>
          <a:solidFill>
            <a:schemeClr val="bg2"/>
          </a:solidFill>
          <a:ln w="12700">
            <a:solidFill>
              <a:schemeClr val="accent4"/>
            </a:solidFill>
            <a:prstDash val="solid"/>
          </a:ln>
        </p:spPr>
        <p:txBody>
          <a:bodyPr/>
          <a:lstStyle/>
          <a:p>
            <a:endParaRPr lang="en-US"/>
          </a:p>
        </p:txBody>
      </p:sp>
      <p:sp>
        <p:nvSpPr>
          <p:cNvPr id="11" name="Text 7"/>
          <p:cNvSpPr txBox="1"/>
          <p:nvPr/>
        </p:nvSpPr>
        <p:spPr>
          <a:xfrm>
            <a:off x="5440680" y="3886200"/>
            <a:ext cx="3154680" cy="685800"/>
          </a:xfrm>
          <a:prstGeom prst="rect">
            <a:avLst/>
          </a:prstGeom>
          <a:noFill/>
          <a:ln/>
        </p:spPr>
        <p:txBody>
          <a:bodyPr wrap="square" lIns="0" tIns="0" rIns="0" bIns="0" rtlCol="0" anchor="ctr"/>
          <a:lstStyle/>
          <a:p>
            <a:pPr marL="0" indent="0">
              <a:buNone/>
            </a:pPr>
            <a:r>
              <a:rPr lang="en-US" sz="1300" b="1" dirty="0">
                <a:solidFill>
                  <a:schemeClr val="tx1"/>
                </a:solidFill>
              </a:rPr>
              <a:t>Trees: 96% accuracy, but found 0–2 of 144 rare status-3 records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Methodology (4): web app and AWS deployment</a:t>
            </a:r>
            <a:endParaRPr lang="en-US" sz="3000" dirty="0"/>
          </a:p>
        </p:txBody>
      </p:sp>
      <p:sp>
        <p:nvSpPr>
          <p:cNvPr id="3" name="architecture diagram frame"/>
          <p:cNvSpPr/>
          <p:nvPr/>
        </p:nvSpPr>
        <p:spPr>
          <a:xfrm>
            <a:off x="466344" y="1152144"/>
            <a:ext cx="4828032" cy="2494586"/>
          </a:xfrm>
          <a:prstGeom prst="rect">
            <a:avLst/>
          </a:prstGeom>
          <a:solidFill>
            <a:schemeClr val="bg1"/>
          </a:solidFill>
          <a:ln w="9525">
            <a:solidFill>
              <a:srgbClr val="6C8CA0"/>
            </a:solidFill>
            <a:prstDash val="solid"/>
          </a:ln>
          <a:effectLst>
            <a:outerShdw blurRad="101600" dist="25400" dir="5400000" algn="bl" rotWithShape="0">
              <a:srgbClr val="000000">
                <a:alpha val="14000"/>
              </a:srgbClr>
            </a:outerShdw>
          </a:effectLst>
        </p:spPr>
        <p:txBody>
          <a:bodyPr/>
          <a:lstStyle/>
          <a:p>
            <a:endParaRPr lang="en-US"/>
          </a:p>
        </p:txBody>
      </p:sp>
      <p:pic>
        <p:nvPicPr>
          <p:cNvPr id="4" name="architecture diagram" descr="architecture diagram"/>
          <p:cNvPicPr>
            <a:picLocks noChangeAspect="1"/>
          </p:cNvPicPr>
          <p:nvPr/>
        </p:nvPicPr>
        <p:blipFill>
          <a:blip r:embed="rId3"/>
          <a:stretch>
            <a:fillRect/>
          </a:stretch>
        </p:blipFill>
        <p:spPr>
          <a:xfrm>
            <a:off x="502920" y="1188720"/>
            <a:ext cx="4754880" cy="2421434"/>
          </a:xfrm>
          <a:prstGeom prst="rect">
            <a:avLst/>
          </a:prstGeom>
        </p:spPr>
      </p:pic>
      <p:sp>
        <p:nvSpPr>
          <p:cNvPr id="5" name="Text 2"/>
          <p:cNvSpPr txBox="1"/>
          <p:nvPr/>
        </p:nvSpPr>
        <p:spPr>
          <a:xfrm>
            <a:off x="502920" y="3719882"/>
            <a:ext cx="4754880" cy="274320"/>
          </a:xfrm>
          <a:prstGeom prst="rect">
            <a:avLst/>
          </a:prstGeom>
          <a:noFill/>
          <a:ln/>
        </p:spPr>
        <p:txBody>
          <a:bodyPr wrap="square" lIns="0" tIns="0" rIns="0" bIns="0" rtlCol="0" anchor="t"/>
          <a:lstStyle/>
          <a:p>
            <a:pPr marL="0" indent="0">
              <a:buNone/>
            </a:pPr>
            <a:r>
              <a:rPr lang="en-US" sz="1200" i="1" dirty="0">
                <a:solidFill>
                  <a:schemeClr val="accent6"/>
                </a:solidFill>
              </a:rPr>
              <a:t>joblib file → Flask API → browser; hosted on AWS</a:t>
            </a:r>
            <a:endParaRPr lang="en-US" sz="1200" dirty="0"/>
          </a:p>
        </p:txBody>
      </p:sp>
      <p:sp>
        <p:nvSpPr>
          <p:cNvPr id="6" name="icon circle FaRocket"/>
          <p:cNvSpPr/>
          <p:nvPr/>
        </p:nvSpPr>
        <p:spPr>
          <a:xfrm>
            <a:off x="5577840" y="11887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7" name="icon FaRocket" descr="FaRocket"/>
          <p:cNvPicPr>
            <a:picLocks noChangeAspect="1"/>
          </p:cNvPicPr>
          <p:nvPr/>
        </p:nvPicPr>
        <p:blipFill>
          <a:blip r:embed="rId4"/>
          <a:stretch>
            <a:fillRect/>
          </a:stretch>
        </p:blipFill>
        <p:spPr>
          <a:xfrm>
            <a:off x="5698541" y="1309421"/>
            <a:ext cx="307238" cy="307238"/>
          </a:xfrm>
          <a:prstGeom prst="rect">
            <a:avLst/>
          </a:prstGeom>
        </p:spPr>
      </p:pic>
      <p:sp>
        <p:nvSpPr>
          <p:cNvPr id="8" name="Text 4"/>
          <p:cNvSpPr txBox="1"/>
          <p:nvPr/>
        </p:nvSpPr>
        <p:spPr>
          <a:xfrm>
            <a:off x="6263640" y="1188720"/>
            <a:ext cx="2423160" cy="274320"/>
          </a:xfrm>
          <a:prstGeom prst="rect">
            <a:avLst/>
          </a:prstGeom>
          <a:noFill/>
          <a:ln/>
        </p:spPr>
        <p:txBody>
          <a:bodyPr wrap="square" lIns="0" tIns="0" rIns="0" bIns="0" rtlCol="0" anchor="t"/>
          <a:lstStyle/>
          <a:p>
            <a:pPr marL="0" indent="0">
              <a:buNone/>
            </a:pPr>
            <a:r>
              <a:rPr lang="en-US" sz="1600" b="1" dirty="0">
                <a:solidFill>
                  <a:schemeClr val="tx1"/>
                </a:solidFill>
              </a:rPr>
              <a:t>Elastic Beanstalk</a:t>
            </a:r>
            <a:endParaRPr lang="en-US" sz="1600" dirty="0"/>
          </a:p>
        </p:txBody>
      </p:sp>
      <p:sp>
        <p:nvSpPr>
          <p:cNvPr id="9" name="Text 5"/>
          <p:cNvSpPr txBox="1"/>
          <p:nvPr/>
        </p:nvSpPr>
        <p:spPr>
          <a:xfrm>
            <a:off x="6263640" y="1481328"/>
            <a:ext cx="2423160" cy="457200"/>
          </a:xfrm>
          <a:prstGeom prst="rect">
            <a:avLst/>
          </a:prstGeom>
          <a:noFill/>
          <a:ln/>
        </p:spPr>
        <p:txBody>
          <a:bodyPr wrap="square" lIns="0" tIns="0" rIns="0" bIns="0" rtlCol="0" anchor="t"/>
          <a:lstStyle/>
          <a:p>
            <a:pPr marL="0" indent="0">
              <a:buNone/>
            </a:pPr>
            <a:r>
              <a:rPr lang="en-US" sz="1300" dirty="0">
                <a:solidFill>
                  <a:schemeClr val="tx1"/>
                </a:solidFill>
              </a:rPr>
              <a:t>easiest: upload the folder</a:t>
            </a:r>
            <a:endParaRPr lang="en-US" sz="1300" dirty="0"/>
          </a:p>
        </p:txBody>
      </p:sp>
      <p:sp>
        <p:nvSpPr>
          <p:cNvPr id="10" name="icon circle FaServer"/>
          <p:cNvSpPr/>
          <p:nvPr/>
        </p:nvSpPr>
        <p:spPr>
          <a:xfrm>
            <a:off x="5577840" y="21031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1" name="icon FaServer" descr="FaServer"/>
          <p:cNvPicPr>
            <a:picLocks noChangeAspect="1"/>
          </p:cNvPicPr>
          <p:nvPr/>
        </p:nvPicPr>
        <p:blipFill>
          <a:blip r:embed="rId5"/>
          <a:stretch>
            <a:fillRect/>
          </a:stretch>
        </p:blipFill>
        <p:spPr>
          <a:xfrm>
            <a:off x="5698541" y="2223821"/>
            <a:ext cx="307238" cy="307238"/>
          </a:xfrm>
          <a:prstGeom prst="rect">
            <a:avLst/>
          </a:prstGeom>
        </p:spPr>
      </p:pic>
      <p:sp>
        <p:nvSpPr>
          <p:cNvPr id="12" name="Text 7"/>
          <p:cNvSpPr txBox="1"/>
          <p:nvPr/>
        </p:nvSpPr>
        <p:spPr>
          <a:xfrm>
            <a:off x="6263640" y="2103120"/>
            <a:ext cx="2423160" cy="274320"/>
          </a:xfrm>
          <a:prstGeom prst="rect">
            <a:avLst/>
          </a:prstGeom>
          <a:noFill/>
          <a:ln/>
        </p:spPr>
        <p:txBody>
          <a:bodyPr wrap="square" lIns="0" tIns="0" rIns="0" bIns="0" rtlCol="0" anchor="t"/>
          <a:lstStyle/>
          <a:p>
            <a:pPr marL="0" indent="0">
              <a:buNone/>
            </a:pPr>
            <a:r>
              <a:rPr lang="en-US" sz="1600" b="1" dirty="0">
                <a:solidFill>
                  <a:schemeClr val="tx1"/>
                </a:solidFill>
              </a:rPr>
              <a:t>EC2 + nginx</a:t>
            </a:r>
            <a:endParaRPr lang="en-US" sz="1600" dirty="0"/>
          </a:p>
        </p:txBody>
      </p:sp>
      <p:sp>
        <p:nvSpPr>
          <p:cNvPr id="13" name="Text 8"/>
          <p:cNvSpPr txBox="1"/>
          <p:nvPr/>
        </p:nvSpPr>
        <p:spPr>
          <a:xfrm>
            <a:off x="6263640" y="2395728"/>
            <a:ext cx="2423160" cy="457200"/>
          </a:xfrm>
          <a:prstGeom prst="rect">
            <a:avLst/>
          </a:prstGeom>
          <a:noFill/>
          <a:ln/>
        </p:spPr>
        <p:txBody>
          <a:bodyPr wrap="square" lIns="0" tIns="0" rIns="0" bIns="0" rtlCol="0" anchor="t"/>
          <a:lstStyle/>
          <a:p>
            <a:pPr marL="0" indent="0">
              <a:buNone/>
            </a:pPr>
            <a:r>
              <a:rPr lang="en-US" sz="1300" dirty="0">
                <a:solidFill>
                  <a:schemeClr val="tx1"/>
                </a:solidFill>
              </a:rPr>
              <a:t>full control, systemd service</a:t>
            </a:r>
            <a:endParaRPr lang="en-US" sz="1300" dirty="0"/>
          </a:p>
        </p:txBody>
      </p:sp>
      <p:sp>
        <p:nvSpPr>
          <p:cNvPr id="14" name="icon circle FaCloud"/>
          <p:cNvSpPr/>
          <p:nvPr/>
        </p:nvSpPr>
        <p:spPr>
          <a:xfrm>
            <a:off x="5577840" y="301752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15" name="icon FaCloud" descr="FaCloud"/>
          <p:cNvPicPr>
            <a:picLocks noChangeAspect="1"/>
          </p:cNvPicPr>
          <p:nvPr/>
        </p:nvPicPr>
        <p:blipFill>
          <a:blip r:embed="rId6"/>
          <a:stretch>
            <a:fillRect/>
          </a:stretch>
        </p:blipFill>
        <p:spPr>
          <a:xfrm>
            <a:off x="5698541" y="3138221"/>
            <a:ext cx="307238" cy="307238"/>
          </a:xfrm>
          <a:prstGeom prst="rect">
            <a:avLst/>
          </a:prstGeom>
        </p:spPr>
      </p:pic>
      <p:sp>
        <p:nvSpPr>
          <p:cNvPr id="16" name="Text 10"/>
          <p:cNvSpPr txBox="1"/>
          <p:nvPr/>
        </p:nvSpPr>
        <p:spPr>
          <a:xfrm>
            <a:off x="6263640" y="3017520"/>
            <a:ext cx="2423160" cy="274320"/>
          </a:xfrm>
          <a:prstGeom prst="rect">
            <a:avLst/>
          </a:prstGeom>
          <a:noFill/>
          <a:ln/>
        </p:spPr>
        <p:txBody>
          <a:bodyPr wrap="square" lIns="0" tIns="0" rIns="0" bIns="0" rtlCol="0" anchor="t"/>
          <a:lstStyle/>
          <a:p>
            <a:pPr marL="0" indent="0">
              <a:buNone/>
            </a:pPr>
            <a:r>
              <a:rPr lang="en-US" sz="1600" b="1" dirty="0">
                <a:solidFill>
                  <a:schemeClr val="tx1"/>
                </a:solidFill>
              </a:rPr>
              <a:t>Docker + App Runner</a:t>
            </a:r>
            <a:endParaRPr lang="en-US" sz="1600" dirty="0"/>
          </a:p>
        </p:txBody>
      </p:sp>
      <p:sp>
        <p:nvSpPr>
          <p:cNvPr id="17" name="Text 11"/>
          <p:cNvSpPr txBox="1"/>
          <p:nvPr/>
        </p:nvSpPr>
        <p:spPr>
          <a:xfrm>
            <a:off x="6263640" y="3310128"/>
            <a:ext cx="2423160" cy="457200"/>
          </a:xfrm>
          <a:prstGeom prst="rect">
            <a:avLst/>
          </a:prstGeom>
          <a:noFill/>
          <a:ln/>
        </p:spPr>
        <p:txBody>
          <a:bodyPr wrap="square" lIns="0" tIns="0" rIns="0" bIns="0" rtlCol="0" anchor="t"/>
          <a:lstStyle/>
          <a:p>
            <a:pPr marL="0" indent="0">
              <a:buNone/>
            </a:pPr>
            <a:r>
              <a:rPr lang="en-US" sz="1300" dirty="0">
                <a:solidFill>
                  <a:schemeClr val="tx1"/>
                </a:solidFill>
              </a:rPr>
              <a:t>container with HTTPS URL</a:t>
            </a:r>
            <a:endParaRPr lang="en-US" sz="1300" dirty="0"/>
          </a:p>
        </p:txBody>
      </p:sp>
      <p:sp>
        <p:nvSpPr>
          <p:cNvPr id="18" name="Text 12"/>
          <p:cNvSpPr txBox="1"/>
          <p:nvPr/>
        </p:nvSpPr>
        <p:spPr>
          <a:xfrm>
            <a:off x="5577840" y="4069080"/>
            <a:ext cx="3108960" cy="365760"/>
          </a:xfrm>
          <a:prstGeom prst="rect">
            <a:avLst/>
          </a:prstGeom>
          <a:noFill/>
          <a:ln/>
        </p:spPr>
        <p:txBody>
          <a:bodyPr wrap="square" lIns="0" tIns="0" rIns="0" bIns="0" rtlCol="0" anchor="t"/>
          <a:lstStyle/>
          <a:p>
            <a:pPr marL="0" indent="0">
              <a:buNone/>
            </a:pPr>
            <a:r>
              <a:rPr lang="en-US" sz="1200" i="1" dirty="0">
                <a:solidFill>
                  <a:schemeClr val="accent6"/>
                </a:solidFill>
              </a:rPr>
              <a:t>Health check: /health  ·  50 MB uploads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Input: three ways to give data</a:t>
            </a:r>
            <a:endParaRPr lang="en-US" sz="3000" dirty="0"/>
          </a:p>
        </p:txBody>
      </p:sp>
      <p:sp>
        <p:nvSpPr>
          <p:cNvPr id="3" name="single reading screenshot frame"/>
          <p:cNvSpPr/>
          <p:nvPr/>
        </p:nvSpPr>
        <p:spPr>
          <a:xfrm>
            <a:off x="466344" y="1152144"/>
            <a:ext cx="4553712" cy="2857945"/>
          </a:xfrm>
          <a:prstGeom prst="rect">
            <a:avLst/>
          </a:prstGeom>
          <a:solidFill>
            <a:schemeClr val="bg1"/>
          </a:solidFill>
          <a:ln w="9525">
            <a:solidFill>
              <a:srgbClr val="6C8CA0"/>
            </a:solidFill>
            <a:prstDash val="solid"/>
          </a:ln>
          <a:effectLst>
            <a:outerShdw blurRad="101600" dist="25400" dir="5400000" algn="bl" rotWithShape="0">
              <a:srgbClr val="000000">
                <a:alpha val="14000"/>
              </a:srgbClr>
            </a:outerShdw>
          </a:effectLst>
        </p:spPr>
        <p:txBody>
          <a:bodyPr/>
          <a:lstStyle/>
          <a:p>
            <a:endParaRPr lang="en-US"/>
          </a:p>
        </p:txBody>
      </p:sp>
      <p:pic>
        <p:nvPicPr>
          <p:cNvPr id="4" name="single reading screenshot" descr="single reading screenshot"/>
          <p:cNvPicPr>
            <a:picLocks noChangeAspect="1"/>
          </p:cNvPicPr>
          <p:nvPr/>
        </p:nvPicPr>
        <p:blipFill>
          <a:blip r:embed="rId3"/>
          <a:stretch>
            <a:fillRect/>
          </a:stretch>
        </p:blipFill>
        <p:spPr>
          <a:xfrm>
            <a:off x="502920" y="1188720"/>
            <a:ext cx="4480560" cy="2784793"/>
          </a:xfrm>
          <a:prstGeom prst="rect">
            <a:avLst/>
          </a:prstGeom>
        </p:spPr>
      </p:pic>
      <p:sp>
        <p:nvSpPr>
          <p:cNvPr id="5" name="Text 2"/>
          <p:cNvSpPr txBox="1"/>
          <p:nvPr/>
        </p:nvSpPr>
        <p:spPr>
          <a:xfrm>
            <a:off x="502920" y="4083241"/>
            <a:ext cx="4480560" cy="457200"/>
          </a:xfrm>
          <a:prstGeom prst="rect">
            <a:avLst/>
          </a:prstGeom>
          <a:noFill/>
          <a:ln/>
        </p:spPr>
        <p:txBody>
          <a:bodyPr wrap="square" lIns="0" tIns="0" rIns="0" bIns="0" rtlCol="0" anchor="t"/>
          <a:lstStyle/>
          <a:p>
            <a:pPr marL="0" indent="0">
              <a:buNone/>
            </a:pPr>
            <a:r>
              <a:rPr lang="en-US" sz="1300" b="1" dirty="0">
                <a:solidFill>
                  <a:srgbClr val="0E7C86"/>
                </a:solidFill>
              </a:rPr>
              <a:t>① Single reading  </a:t>
            </a:r>
            <a:r>
              <a:rPr lang="en-US" sz="1300" dirty="0">
                <a:solidFill>
                  <a:srgbClr val="0B2A3D"/>
                </a:solidFill>
              </a:rPr>
              <a:t>edit sensors one by one</a:t>
            </a:r>
            <a:endParaRPr lang="en-US" sz="1300" dirty="0"/>
          </a:p>
        </p:txBody>
      </p:sp>
      <p:sp>
        <p:nvSpPr>
          <p:cNvPr id="6" name="paste a row screenshot frame"/>
          <p:cNvSpPr/>
          <p:nvPr/>
        </p:nvSpPr>
        <p:spPr>
          <a:xfrm>
            <a:off x="5221224" y="1152144"/>
            <a:ext cx="3502152" cy="1418558"/>
          </a:xfrm>
          <a:prstGeom prst="rect">
            <a:avLst/>
          </a:prstGeom>
          <a:solidFill>
            <a:schemeClr val="bg1"/>
          </a:solidFill>
          <a:ln w="9525">
            <a:solidFill>
              <a:srgbClr val="6C8CA0"/>
            </a:solidFill>
            <a:prstDash val="solid"/>
          </a:ln>
          <a:effectLst>
            <a:outerShdw blurRad="101600" dist="25400" dir="5400000" algn="bl" rotWithShape="0">
              <a:srgbClr val="000000">
                <a:alpha val="14000"/>
              </a:srgbClr>
            </a:outerShdw>
          </a:effectLst>
        </p:spPr>
        <p:txBody>
          <a:bodyPr/>
          <a:lstStyle/>
          <a:p>
            <a:endParaRPr lang="en-US"/>
          </a:p>
        </p:txBody>
      </p:sp>
      <p:pic>
        <p:nvPicPr>
          <p:cNvPr id="7" name="paste a row screenshot" descr="paste a row screenshot"/>
          <p:cNvPicPr>
            <a:picLocks noChangeAspect="1"/>
          </p:cNvPicPr>
          <p:nvPr/>
        </p:nvPicPr>
        <p:blipFill>
          <a:blip r:embed="rId4"/>
          <a:stretch>
            <a:fillRect/>
          </a:stretch>
        </p:blipFill>
        <p:spPr>
          <a:xfrm>
            <a:off x="5257800" y="1188720"/>
            <a:ext cx="3429000" cy="1345406"/>
          </a:xfrm>
          <a:prstGeom prst="rect">
            <a:avLst/>
          </a:prstGeom>
        </p:spPr>
      </p:pic>
      <p:sp>
        <p:nvSpPr>
          <p:cNvPr id="8" name="Text 4"/>
          <p:cNvSpPr txBox="1"/>
          <p:nvPr/>
        </p:nvSpPr>
        <p:spPr>
          <a:xfrm>
            <a:off x="5257800" y="2625566"/>
            <a:ext cx="3429000" cy="274320"/>
          </a:xfrm>
          <a:prstGeom prst="rect">
            <a:avLst/>
          </a:prstGeom>
          <a:noFill/>
          <a:ln/>
        </p:spPr>
        <p:txBody>
          <a:bodyPr wrap="square" lIns="0" tIns="0" rIns="0" bIns="0" rtlCol="0" anchor="t"/>
          <a:lstStyle/>
          <a:p>
            <a:pPr marL="0" indent="0">
              <a:buNone/>
            </a:pPr>
            <a:r>
              <a:rPr lang="en-US" sz="1300" b="1" dirty="0">
                <a:solidFill>
                  <a:srgbClr val="0E7C86"/>
                </a:solidFill>
              </a:rPr>
              <a:t>② Paste a full row  </a:t>
            </a:r>
            <a:r>
              <a:rPr lang="en-US" sz="1300" dirty="0">
                <a:solidFill>
                  <a:srgbClr val="0B2A3D"/>
                </a:solidFill>
              </a:rPr>
              <a:t>JSON or CSV text</a:t>
            </a:r>
            <a:endParaRPr lang="en-US" sz="1300" dirty="0"/>
          </a:p>
        </p:txBody>
      </p:sp>
      <p:sp>
        <p:nvSpPr>
          <p:cNvPr id="9" name="upload dataset screenshot frame"/>
          <p:cNvSpPr/>
          <p:nvPr/>
        </p:nvSpPr>
        <p:spPr>
          <a:xfrm>
            <a:off x="5221224" y="3000470"/>
            <a:ext cx="3502152" cy="1261793"/>
          </a:xfrm>
          <a:prstGeom prst="rect">
            <a:avLst/>
          </a:prstGeom>
          <a:solidFill>
            <a:schemeClr val="bg1"/>
          </a:solidFill>
          <a:ln w="9525">
            <a:solidFill>
              <a:srgbClr val="6C8CA0"/>
            </a:solidFill>
            <a:prstDash val="solid"/>
          </a:ln>
          <a:effectLst>
            <a:outerShdw blurRad="101600" dist="25400" dir="5400000" algn="bl" rotWithShape="0">
              <a:srgbClr val="000000">
                <a:alpha val="14000"/>
              </a:srgbClr>
            </a:outerShdw>
          </a:effectLst>
        </p:spPr>
        <p:txBody>
          <a:bodyPr/>
          <a:lstStyle/>
          <a:p>
            <a:endParaRPr lang="en-US"/>
          </a:p>
        </p:txBody>
      </p:sp>
      <p:pic>
        <p:nvPicPr>
          <p:cNvPr id="10" name="upload dataset screenshot" descr="upload dataset screenshot"/>
          <p:cNvPicPr>
            <a:picLocks noChangeAspect="1"/>
          </p:cNvPicPr>
          <p:nvPr/>
        </p:nvPicPr>
        <p:blipFill>
          <a:blip r:embed="rId5"/>
          <a:stretch>
            <a:fillRect/>
          </a:stretch>
        </p:blipFill>
        <p:spPr>
          <a:xfrm>
            <a:off x="5257800" y="3037046"/>
            <a:ext cx="3429000" cy="1188641"/>
          </a:xfrm>
          <a:prstGeom prst="rect">
            <a:avLst/>
          </a:prstGeom>
        </p:spPr>
      </p:pic>
      <p:sp>
        <p:nvSpPr>
          <p:cNvPr id="11" name="Text 6"/>
          <p:cNvSpPr txBox="1"/>
          <p:nvPr/>
        </p:nvSpPr>
        <p:spPr>
          <a:xfrm>
            <a:off x="5257800" y="4317127"/>
            <a:ext cx="3429000" cy="274320"/>
          </a:xfrm>
          <a:prstGeom prst="rect">
            <a:avLst/>
          </a:prstGeom>
          <a:noFill/>
          <a:ln/>
        </p:spPr>
        <p:txBody>
          <a:bodyPr wrap="square" lIns="0" tIns="0" rIns="0" bIns="0" rtlCol="0" anchor="t"/>
          <a:lstStyle/>
          <a:p>
            <a:pPr marL="0" indent="0">
              <a:buNone/>
            </a:pPr>
            <a:r>
              <a:rPr lang="en-US" sz="1300" b="1" dirty="0">
                <a:solidFill>
                  <a:srgbClr val="0E7C86"/>
                </a:solidFill>
              </a:rPr>
              <a:t>③ Upload dataset  </a:t>
            </a:r>
            <a:r>
              <a:rPr lang="en-US" sz="1300" dirty="0">
                <a:solidFill>
                  <a:srgbClr val="0B2A3D"/>
                </a:solidFill>
              </a:rPr>
              <a:t>CSV or Excel</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Output: prediction and batch results</a:t>
            </a:r>
            <a:endParaRPr lang="en-US" sz="3000" dirty="0"/>
          </a:p>
        </p:txBody>
      </p:sp>
      <p:sp>
        <p:nvSpPr>
          <p:cNvPr id="3" name="single prediction output frame"/>
          <p:cNvSpPr/>
          <p:nvPr/>
        </p:nvSpPr>
        <p:spPr>
          <a:xfrm>
            <a:off x="466344" y="1152144"/>
            <a:ext cx="4553712" cy="2857945"/>
          </a:xfrm>
          <a:prstGeom prst="rect">
            <a:avLst/>
          </a:prstGeom>
          <a:solidFill>
            <a:schemeClr val="bg1"/>
          </a:solidFill>
          <a:ln w="9525">
            <a:solidFill>
              <a:srgbClr val="6C8CA0"/>
            </a:solidFill>
            <a:prstDash val="solid"/>
          </a:ln>
          <a:effectLst>
            <a:outerShdw blurRad="101600" dist="25400" dir="5400000" algn="bl" rotWithShape="0">
              <a:srgbClr val="000000">
                <a:alpha val="14000"/>
              </a:srgbClr>
            </a:outerShdw>
          </a:effectLst>
        </p:spPr>
        <p:txBody>
          <a:bodyPr/>
          <a:lstStyle/>
          <a:p>
            <a:endParaRPr lang="en-US"/>
          </a:p>
        </p:txBody>
      </p:sp>
      <p:pic>
        <p:nvPicPr>
          <p:cNvPr id="4" name="single prediction output" descr="single prediction output"/>
          <p:cNvPicPr>
            <a:picLocks noChangeAspect="1"/>
          </p:cNvPicPr>
          <p:nvPr/>
        </p:nvPicPr>
        <p:blipFill>
          <a:blip r:embed="rId3"/>
          <a:stretch>
            <a:fillRect/>
          </a:stretch>
        </p:blipFill>
        <p:spPr>
          <a:xfrm>
            <a:off x="502920" y="1188720"/>
            <a:ext cx="4480560" cy="2784793"/>
          </a:xfrm>
          <a:prstGeom prst="rect">
            <a:avLst/>
          </a:prstGeom>
        </p:spPr>
      </p:pic>
      <p:sp>
        <p:nvSpPr>
          <p:cNvPr id="5" name="Text 2"/>
          <p:cNvSpPr txBox="1"/>
          <p:nvPr/>
        </p:nvSpPr>
        <p:spPr>
          <a:xfrm>
            <a:off x="502920" y="4083241"/>
            <a:ext cx="4480560" cy="594360"/>
          </a:xfrm>
          <a:prstGeom prst="rect">
            <a:avLst/>
          </a:prstGeom>
          <a:noFill/>
          <a:ln/>
        </p:spPr>
        <p:txBody>
          <a:bodyPr wrap="square" lIns="0" tIns="0" rIns="0" bIns="0" rtlCol="0" anchor="t"/>
          <a:lstStyle/>
          <a:p>
            <a:pPr marL="0" indent="0">
              <a:buNone/>
            </a:pPr>
            <a:r>
              <a:rPr lang="en-US" sz="1300" dirty="0">
                <a:solidFill>
                  <a:schemeClr val="tx1"/>
                </a:solidFill>
              </a:rPr>
              <a:t>Predicted status, confidence ring, class probabilities and the sensors that drove the decision</a:t>
            </a:r>
            <a:endParaRPr lang="en-US" sz="1300" dirty="0"/>
          </a:p>
        </p:txBody>
      </p:sp>
      <p:sp>
        <p:nvSpPr>
          <p:cNvPr id="6" name="batch upload output frame"/>
          <p:cNvSpPr/>
          <p:nvPr/>
        </p:nvSpPr>
        <p:spPr>
          <a:xfrm>
            <a:off x="5632704" y="1152144"/>
            <a:ext cx="2816352" cy="2797302"/>
          </a:xfrm>
          <a:prstGeom prst="rect">
            <a:avLst/>
          </a:prstGeom>
          <a:solidFill>
            <a:schemeClr val="bg1"/>
          </a:solidFill>
          <a:ln w="9525">
            <a:solidFill>
              <a:srgbClr val="6C8CA0"/>
            </a:solidFill>
            <a:prstDash val="solid"/>
          </a:ln>
          <a:effectLst>
            <a:outerShdw blurRad="101600" dist="25400" dir="5400000" algn="bl" rotWithShape="0">
              <a:srgbClr val="000000">
                <a:alpha val="14000"/>
              </a:srgbClr>
            </a:outerShdw>
          </a:effectLst>
        </p:spPr>
        <p:txBody>
          <a:bodyPr/>
          <a:lstStyle/>
          <a:p>
            <a:endParaRPr lang="en-US"/>
          </a:p>
        </p:txBody>
      </p:sp>
      <p:pic>
        <p:nvPicPr>
          <p:cNvPr id="7" name="batch upload output" descr="batch upload output"/>
          <p:cNvPicPr>
            <a:picLocks noChangeAspect="1"/>
          </p:cNvPicPr>
          <p:nvPr/>
        </p:nvPicPr>
        <p:blipFill>
          <a:blip r:embed="rId4"/>
          <a:stretch>
            <a:fillRect/>
          </a:stretch>
        </p:blipFill>
        <p:spPr>
          <a:xfrm>
            <a:off x="5669280" y="1188720"/>
            <a:ext cx="2743200" cy="2724150"/>
          </a:xfrm>
          <a:prstGeom prst="rect">
            <a:avLst/>
          </a:prstGeom>
        </p:spPr>
      </p:pic>
      <p:sp>
        <p:nvSpPr>
          <p:cNvPr id="8" name="Text 4"/>
          <p:cNvSpPr txBox="1"/>
          <p:nvPr/>
        </p:nvSpPr>
        <p:spPr>
          <a:xfrm>
            <a:off x="5394960" y="4022598"/>
            <a:ext cx="3291840" cy="457200"/>
          </a:xfrm>
          <a:prstGeom prst="rect">
            <a:avLst/>
          </a:prstGeom>
          <a:noFill/>
          <a:ln/>
        </p:spPr>
        <p:txBody>
          <a:bodyPr wrap="square" lIns="0" tIns="0" rIns="0" bIns="0" rtlCol="0" anchor="t"/>
          <a:lstStyle/>
          <a:p>
            <a:pPr marL="0" indent="0">
              <a:buNone/>
            </a:pPr>
            <a:r>
              <a:rPr lang="en-US" sz="1200" dirty="0">
                <a:solidFill>
                  <a:schemeClr val="tx1"/>
                </a:solidFill>
              </a:rPr>
              <a:t>Upload results: class shares, accuracy 86.7% on the demo file, downloadable CSV</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bg1"/>
                </a:solidFill>
              </a:rPr>
              <a:t>Conclusion and future scope</a:t>
            </a:r>
            <a:endParaRPr lang="en-US" sz="3000" dirty="0"/>
          </a:p>
        </p:txBody>
      </p:sp>
      <p:sp>
        <p:nvSpPr>
          <p:cNvPr id="3" name="Conclusion card"/>
          <p:cNvSpPr/>
          <p:nvPr/>
        </p:nvSpPr>
        <p:spPr>
          <a:xfrm>
            <a:off x="457200" y="1143000"/>
            <a:ext cx="4023360" cy="2743200"/>
          </a:xfrm>
          <a:prstGeom prst="roundRect">
            <a:avLst>
              <a:gd name="adj" fmla="val 4000"/>
            </a:avLst>
          </a:prstGeom>
          <a:solidFill>
            <a:schemeClr val="tx2"/>
          </a:solidFill>
          <a:ln w="12700">
            <a:solidFill>
              <a:schemeClr val="tx2"/>
            </a:solidFill>
            <a:prstDash val="solid"/>
          </a:ln>
        </p:spPr>
        <p:txBody>
          <a:bodyPr/>
          <a:lstStyle/>
          <a:p>
            <a:endParaRPr lang="en-US"/>
          </a:p>
        </p:txBody>
      </p:sp>
      <p:sp>
        <p:nvSpPr>
          <p:cNvPr id="4" name="Text 2"/>
          <p:cNvSpPr txBox="1"/>
          <p:nvPr/>
        </p:nvSpPr>
        <p:spPr>
          <a:xfrm>
            <a:off x="685800" y="1280160"/>
            <a:ext cx="3566160" cy="365760"/>
          </a:xfrm>
          <a:prstGeom prst="rect">
            <a:avLst/>
          </a:prstGeom>
          <a:noFill/>
          <a:ln/>
        </p:spPr>
        <p:txBody>
          <a:bodyPr wrap="square" lIns="0" tIns="0" rIns="0" bIns="0" rtlCol="0" anchor="t"/>
          <a:lstStyle/>
          <a:p>
            <a:pPr marL="0" indent="0">
              <a:buNone/>
            </a:pPr>
            <a:r>
              <a:rPr lang="en-US" sz="2000" b="1" dirty="0">
                <a:solidFill>
                  <a:schemeClr val="accent2"/>
                </a:solidFill>
              </a:rPr>
              <a:t>Conclusion</a:t>
            </a:r>
            <a:endParaRPr lang="en-US" sz="2000" dirty="0"/>
          </a:p>
        </p:txBody>
      </p:sp>
      <p:sp>
        <p:nvSpPr>
          <p:cNvPr id="5" name="Text 3"/>
          <p:cNvSpPr txBox="1"/>
          <p:nvPr/>
        </p:nvSpPr>
        <p:spPr>
          <a:xfrm>
            <a:off x="685800" y="1737360"/>
            <a:ext cx="36118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Cleaned 160,637 records and predicted status from 61 sensor features</a:t>
            </a:r>
            <a:endParaRPr lang="en-US" sz="1400" dirty="0"/>
          </a:p>
          <a:p>
            <a:pPr marL="342900" indent="-342900">
              <a:spcAft>
                <a:spcPts val="600"/>
              </a:spcAft>
              <a:buSzPct val="100000"/>
              <a:buChar char="•"/>
            </a:pPr>
            <a:r>
              <a:rPr lang="en-US" sz="1400" dirty="0">
                <a:solidFill>
                  <a:schemeClr val="bg1"/>
                </a:solidFill>
              </a:rPr>
              <a:t>Logistic Regression won on macro-F1 (0.654) and found 60% of the rare status 3</a:t>
            </a:r>
            <a:endParaRPr lang="en-US" sz="1400" dirty="0"/>
          </a:p>
          <a:p>
            <a:pPr marL="342900" indent="-342900">
              <a:spcAft>
                <a:spcPts val="600"/>
              </a:spcAft>
              <a:buSzPct val="100000"/>
              <a:buChar char="•"/>
            </a:pPr>
            <a:r>
              <a:rPr lang="en-US" sz="1400" dirty="0">
                <a:solidFill>
                  <a:schemeClr val="bg1"/>
                </a:solidFill>
              </a:rPr>
              <a:t>Accuracy alone would have hidden the failure of the 96%-accurate tree models</a:t>
            </a:r>
            <a:endParaRPr lang="en-US" sz="1400" dirty="0"/>
          </a:p>
          <a:p>
            <a:pPr marL="342900" indent="-342900">
              <a:spcAft>
                <a:spcPts val="600"/>
              </a:spcAft>
              <a:buSzPct val="100000"/>
              <a:buChar char="•"/>
            </a:pPr>
            <a:r>
              <a:rPr lang="en-US" sz="1400" dirty="0">
                <a:solidFill>
                  <a:schemeClr val="bg1"/>
                </a:solidFill>
              </a:rPr>
              <a:t>Delivered as a Flask web app with explanations, ready for AWS</a:t>
            </a:r>
            <a:endParaRPr lang="en-US" sz="1400" dirty="0"/>
          </a:p>
        </p:txBody>
      </p:sp>
      <p:sp>
        <p:nvSpPr>
          <p:cNvPr id="6" name="Future scope card"/>
          <p:cNvSpPr/>
          <p:nvPr/>
        </p:nvSpPr>
        <p:spPr>
          <a:xfrm>
            <a:off x="4663440" y="1143000"/>
            <a:ext cx="4023360" cy="2743200"/>
          </a:xfrm>
          <a:prstGeom prst="roundRect">
            <a:avLst>
              <a:gd name="adj" fmla="val 4000"/>
            </a:avLst>
          </a:prstGeom>
          <a:solidFill>
            <a:schemeClr val="tx2"/>
          </a:solidFill>
          <a:ln w="12700">
            <a:solidFill>
              <a:schemeClr val="tx2"/>
            </a:solidFill>
            <a:prstDash val="solid"/>
          </a:ln>
        </p:spPr>
        <p:txBody>
          <a:bodyPr/>
          <a:lstStyle/>
          <a:p>
            <a:endParaRPr lang="en-US"/>
          </a:p>
        </p:txBody>
      </p:sp>
      <p:sp>
        <p:nvSpPr>
          <p:cNvPr id="7" name="Text 5"/>
          <p:cNvSpPr txBox="1"/>
          <p:nvPr/>
        </p:nvSpPr>
        <p:spPr>
          <a:xfrm>
            <a:off x="4892040" y="1280160"/>
            <a:ext cx="3566160" cy="365760"/>
          </a:xfrm>
          <a:prstGeom prst="rect">
            <a:avLst/>
          </a:prstGeom>
          <a:noFill/>
          <a:ln/>
        </p:spPr>
        <p:txBody>
          <a:bodyPr wrap="square" lIns="0" tIns="0" rIns="0" bIns="0" rtlCol="0" anchor="t"/>
          <a:lstStyle/>
          <a:p>
            <a:pPr marL="0" indent="0">
              <a:buNone/>
            </a:pPr>
            <a:r>
              <a:rPr lang="en-US" sz="2000" b="1" dirty="0">
                <a:solidFill>
                  <a:schemeClr val="accent2"/>
                </a:solidFill>
              </a:rPr>
              <a:t>Future scope</a:t>
            </a:r>
            <a:endParaRPr lang="en-US" sz="2000" dirty="0"/>
          </a:p>
        </p:txBody>
      </p:sp>
      <p:sp>
        <p:nvSpPr>
          <p:cNvPr id="8" name="Text 6"/>
          <p:cNvSpPr txBox="1"/>
          <p:nvPr/>
        </p:nvSpPr>
        <p:spPr>
          <a:xfrm>
            <a:off x="4892040" y="1737360"/>
            <a:ext cx="36118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SMOTE and threshold tuning to improve status 3</a:t>
            </a:r>
            <a:endParaRPr lang="en-US" sz="1400" dirty="0"/>
          </a:p>
          <a:p>
            <a:pPr marL="342900" indent="-342900">
              <a:spcAft>
                <a:spcPts val="600"/>
              </a:spcAft>
              <a:buSzPct val="100000"/>
              <a:buChar char="•"/>
            </a:pPr>
            <a:r>
              <a:rPr lang="en-US" sz="1400" dirty="0">
                <a:solidFill>
                  <a:schemeClr val="bg1"/>
                </a:solidFill>
              </a:rPr>
              <a:t>Rolling-window and lag features for time patterns</a:t>
            </a:r>
            <a:endParaRPr lang="en-US" sz="1400" dirty="0"/>
          </a:p>
          <a:p>
            <a:pPr marL="342900" indent="-342900">
              <a:spcAft>
                <a:spcPts val="600"/>
              </a:spcAft>
              <a:buSzPct val="100000"/>
              <a:buChar char="•"/>
            </a:pPr>
            <a:r>
              <a:rPr lang="en-US" sz="1400" dirty="0">
                <a:solidFill>
                  <a:schemeClr val="bg1"/>
                </a:solidFill>
              </a:rPr>
              <a:t>SHAP explanations for stronger models</a:t>
            </a:r>
            <a:endParaRPr lang="en-US" sz="1400" dirty="0"/>
          </a:p>
          <a:p>
            <a:pPr marL="342900" indent="-342900">
              <a:spcAft>
                <a:spcPts val="600"/>
              </a:spcAft>
              <a:buSzPct val="100000"/>
              <a:buChar char="•"/>
            </a:pPr>
            <a:r>
              <a:rPr lang="en-US" sz="1400" dirty="0">
                <a:solidFill>
                  <a:schemeClr val="bg1"/>
                </a:solidFill>
              </a:rPr>
              <a:t>Early fault detection, monitoring and login on AWS</a:t>
            </a:r>
            <a:endParaRPr lang="en-US" sz="1400" dirty="0"/>
          </a:p>
        </p:txBody>
      </p:sp>
      <p:sp>
        <p:nvSpPr>
          <p:cNvPr id="9" name="Text 7"/>
          <p:cNvSpPr txBox="1"/>
          <p:nvPr/>
        </p:nvSpPr>
        <p:spPr>
          <a:xfrm>
            <a:off x="457200" y="4069080"/>
            <a:ext cx="8229600" cy="502920"/>
          </a:xfrm>
          <a:prstGeom prst="rect">
            <a:avLst/>
          </a:prstGeom>
          <a:noFill/>
          <a:ln/>
        </p:spPr>
        <p:txBody>
          <a:bodyPr wrap="square" lIns="0" tIns="0" rIns="0" bIns="0" rtlCol="0" anchor="ctr"/>
          <a:lstStyle/>
          <a:p>
            <a:pPr marL="0" indent="0" algn="ctr">
              <a:buNone/>
            </a:pPr>
            <a:endParaRPr lang="en-US" sz="2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8CA0"/>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C736-B25E-F395-1BCD-45361CAAD096}"/>
              </a:ext>
            </a:extLst>
          </p:cNvPr>
          <p:cNvSpPr>
            <a:spLocks noGrp="1"/>
          </p:cNvSpPr>
          <p:nvPr>
            <p:ph type="title" idx="100"/>
          </p:nvPr>
        </p:nvSpPr>
        <p:spPr>
          <a:xfrm>
            <a:off x="457200" y="1600200"/>
            <a:ext cx="8229600" cy="971550"/>
          </a:xfrm>
        </p:spPr>
        <p:txBody>
          <a:bodyPr/>
          <a:lstStyle/>
          <a:p>
            <a:r>
              <a:rPr lang="en-US" sz="3200" dirty="0">
                <a:solidFill>
                  <a:schemeClr val="accent2"/>
                </a:solidFill>
              </a:rPr>
              <a:t>			Thank you! </a:t>
            </a:r>
            <a:br>
              <a:rPr lang="en-US" sz="3200" dirty="0"/>
            </a:br>
            <a:endParaRPr lang="en-US" dirty="0"/>
          </a:p>
        </p:txBody>
      </p:sp>
    </p:spTree>
    <p:extLst>
      <p:ext uri="{BB962C8B-B14F-4D97-AF65-F5344CB8AC3E}">
        <p14:creationId xmlns:p14="http://schemas.microsoft.com/office/powerpoint/2010/main" val="922735779"/>
      </p:ext>
    </p:extLst>
  </p:cSld>
  <p:clrMapOvr>
    <a:masterClrMapping/>
  </p:clrMapOvr>
</p:sld>
</file>

<file path=ppt/theme/theme1.xml><?xml version="1.0" encoding="utf-8"?>
<a:theme xmlns:a="http://schemas.openxmlformats.org/drawingml/2006/main" name="WindWatch">
  <a:themeElements>
    <a:clrScheme name="WindWatch">
      <a:dk1>
        <a:srgbClr val="0B2A3D"/>
      </a:dk1>
      <a:lt1>
        <a:srgbClr val="FFFFFF"/>
      </a:lt1>
      <a:dk2>
        <a:srgbClr val="123F55"/>
      </a:dk2>
      <a:lt2>
        <a:srgbClr val="EAF5F6"/>
      </a:lt2>
      <a:accent1>
        <a:srgbClr val="0E7C86"/>
      </a:accent1>
      <a:accent2>
        <a:srgbClr val="38E1D0"/>
      </a:accent2>
      <a:accent3>
        <a:srgbClr val="FFC857"/>
      </a:accent3>
      <a:accent4>
        <a:srgbClr val="FF7B7B"/>
      </a:accent4>
      <a:accent5>
        <a:srgbClr val="3DDC97"/>
      </a:accent5>
      <a:accent6>
        <a:srgbClr val="6C8CA0"/>
      </a:accent6>
      <a:hlink>
        <a:srgbClr val="0E7C86"/>
      </a:hlink>
      <a:folHlink>
        <a:srgbClr val="6C8CA0"/>
      </a:folHlink>
    </a:clrScheme>
    <a:fontScheme name="WindWa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2377</Words>
  <Application>Microsoft Office PowerPoint</Application>
  <PresentationFormat>On-screen Show (16:9)</PresentationFormat>
  <Paragraphs>151</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WindWatch</vt:lpstr>
      <vt:lpstr>WindWatch AI</vt:lpstr>
      <vt:lpstr>Introduction, problem and motivation</vt:lpstr>
      <vt:lpstr>Aim and objectives</vt:lpstr>
      <vt:lpstr>Background: the data and the target</vt:lpstr>
      <vt:lpstr>Previous work vs. what we do extra</vt:lpstr>
      <vt:lpstr>Methodology (1): workflow and data cleaning</vt:lpstr>
      <vt:lpstr>Methodology (2): what the data tells us</vt:lpstr>
      <vt:lpstr>Methodology (3): four models, one fair test</vt:lpstr>
      <vt:lpstr>Methodology (4): web app and AWS deployment</vt:lpstr>
      <vt:lpstr>Input: three ways to give data</vt:lpstr>
      <vt:lpstr>Output: prediction and batch results</vt:lpstr>
      <vt:lpstr>Conclusion and future scope</vt:lpstr>
      <vt:lpstr>   Thank you!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WindWatch AI – Wind Turbine Status Prediction</dc:title>
  <dc:subject>PptxGenJS Presentation</dc:subject>
  <dc:creator>Shrushti Malkar</dc:creator>
  <cp:lastModifiedBy>SHRUSHTI MALKAR</cp:lastModifiedBy>
  <cp:revision>4</cp:revision>
  <dcterms:created xsi:type="dcterms:W3CDTF">2026-10-15T10:58:28Z</dcterms:created>
  <dcterms:modified xsi:type="dcterms:W3CDTF">2026-10-21T07:58:49Z</dcterms:modified>
</cp:coreProperties>
</file>